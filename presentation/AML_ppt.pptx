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086094a5-f630-23bc-bbed-10f132825623}">
          <p14:sldIdLst>
            <p14:sldId id="256"/>
            <p14:sldId id="257"/>
            <p14:sldId id="258"/>
          </p14:sldIdLst>
        </p14:section>
        <p14:section name="Methods" id="{a9ee8f0d-14e0-b1cc-ed2c-b1441a5e94a9}">
          <p14:sldIdLst>
            <p14:sldId id="259"/>
            <p14:sldId id="260"/>
          </p14:sldIdLst>
        </p14:section>
        <p14:section name="Results" id="{d2145ad1-83da-c697-e34f-b6674ea875f3}">
          <p14:sldIdLst>
            <p14:sldId id="261"/>
            <p14:sldId id="262"/>
            <p14:sldId id="263"/>
          </p14:sldIdLst>
        </p14:section>
        <p14:section name="Demo and wrap-up" id="{ef898eab-429b-6276-95bf-b424878ba21f}">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F2A24"/>
                </a:solidFill>
                <a:latin typeface="+mn-lt"/>
              </a:defRPr>
            </a:pPr>
            <a:r>
              <a:rPr sz="1600" b="0" i="0" u="none" strike="noStrike">
                <a:solidFill>
                  <a:srgbClr val="0F2A24"/>
                </a:solidFill>
                <a:latin typeface="+mn-lt"/>
              </a:rPr>
              <a:t>Images per class (n = 2,527)</a:t>
            </a:r>
          </a:p>
        </c:rich>
      </c:tx>
      <c:layout/>
      <c:overlay val="0"/>
    </c:title>
    <c:autoTitleDeleted val="0"/>
    <c:plotArea>
      <c:layout/>
      <c:barChart>
        <c:barDir val="bar"/>
        <c:grouping val="clustered"/>
        <c:varyColors val="0"/>
        <c:ser>
          <c:idx val="0"/>
          <c:order val="0"/>
          <c:tx>
            <c:strRef>
              <c:f>Sheet1!$B$1</c:f>
              <c:strCache>
                <c:ptCount val="1"/>
                <c:pt idx="0">
                  <c:v>Images</c:v>
                </c:pt>
              </c:strCache>
            </c:strRef>
          </c:tx>
          <c:spPr>
            <a:solidFill>
              <a:srgbClr val="9DBFB0"/>
            </a:solidFill>
            <a:effectLst/>
          </c:spPr>
          <c:invertIfNegative val="0"/>
          <c:dLbls>
            <c:numFmt formatCode="#,##0" sourceLinked="0"/>
            <c:txPr>
              <a:bodyPr/>
              <a:lstStyle/>
              <a:p>
                <a:pPr>
                  <a:defRPr b="0" i="0" strike="noStrike" sz="1400" u="none">
                    <a:solidFill>
                      <a:srgbClr val="0F2A24"/>
                    </a:solidFill>
                    <a:latin typeface="+mn-lt"/>
                  </a:defRPr>
                </a:pPr>
              </a:p>
            </c:txPr>
            <c:showLegendKey val="0"/>
            <c:showVal val="1"/>
            <c:showCatName val="0"/>
            <c:showSerName val="0"/>
            <c:showPercent val="0"/>
            <c:showBubbleSize val="0"/>
            <c:showLeaderLines val="0"/>
          </c:dLbls>
          <c:dPt>
            <c:idx val="0"/>
            <c:invertIfNegative val="0"/>
            <c:bubble3D val="0"/>
            <c:spPr>
              <a:solidFill>
                <a:srgbClr val="9DBFB0"/>
              </a:solidFill>
              <a:effectLst/>
            </c:spPr>
          </c:dPt>
          <c:dPt>
            <c:idx val="1"/>
            <c:invertIfNegative val="0"/>
            <c:bubble3D val="0"/>
            <c:spPr>
              <a:solidFill>
                <a:srgbClr val="9DBFB0"/>
              </a:solidFill>
              <a:effectLst/>
            </c:spPr>
          </c:dPt>
          <c:dPt>
            <c:idx val="2"/>
            <c:invertIfNegative val="0"/>
            <c:bubble3D val="0"/>
            <c:spPr>
              <a:solidFill>
                <a:srgbClr val="9DBFB0"/>
              </a:solidFill>
              <a:effectLst/>
            </c:spPr>
          </c:dPt>
          <c:dPt>
            <c:idx val="3"/>
            <c:invertIfNegative val="0"/>
            <c:bubble3D val="0"/>
            <c:spPr>
              <a:solidFill>
                <a:srgbClr val="1F8A60"/>
              </a:solidFill>
              <a:effectLst/>
            </c:spPr>
          </c:dPt>
          <c:dPt>
            <c:idx val="4"/>
            <c:invertIfNegative val="0"/>
            <c:bubble3D val="0"/>
            <c:spPr>
              <a:solidFill>
                <a:srgbClr val="9DBFB0"/>
              </a:solidFill>
              <a:effectLst/>
            </c:spPr>
          </c:dPt>
          <c:dPt>
            <c:idx val="5"/>
            <c:invertIfNegative val="0"/>
            <c:bubble3D val="0"/>
            <c:spPr>
              <a:solidFill>
                <a:srgbClr val="F2A33A"/>
              </a:solidFill>
              <a:effectLst/>
            </c:spPr>
          </c:dPt>
          <c:cat>
            <c:multiLvlStrRef>
              <c:f>Sheet1!$A$2:$A$7</c:f>
              <c:multiLvlStrCache>
                <c:ptCount val="6"/>
                <c:lvl>
                  <c:pt idx="0">
                    <c:v>Cardboard</c:v>
                  </c:pt>
                  <c:pt idx="1">
                    <c:v>Glass</c:v>
                  </c:pt>
                  <c:pt idx="2">
                    <c:v>Metal</c:v>
                  </c:pt>
                  <c:pt idx="3">
                    <c:v>Paper</c:v>
                  </c:pt>
                  <c:pt idx="4">
                    <c:v>Plastic</c:v>
                  </c:pt>
                  <c:pt idx="5">
                    <c:v>Trash</c:v>
                  </c:pt>
                </c:lvl>
              </c:multiLvlStrCache>
            </c:multiLvlStrRef>
          </c:cat>
          <c:val>
            <c:numRef>
              <c:f>Sheet1!$B$2:$B$7</c:f>
              <c:numCache>
                <c:formatCode>General</c:formatCode>
                <c:ptCount val="6"/>
                <c:pt idx="0">
                  <c:v>403</c:v>
                </c:pt>
                <c:pt idx="1">
                  <c:v>501</c:v>
                </c:pt>
                <c:pt idx="2">
                  <c:v>410</c:v>
                </c:pt>
                <c:pt idx="3">
                  <c:v>594</c:v>
                </c:pt>
                <c:pt idx="4">
                  <c:v>482</c:v>
                </c:pt>
                <c:pt idx="5">
                  <c:v>137</c:v>
                </c:pt>
              </c:numCache>
            </c:numRef>
          </c:val>
        </c:ser>
        <c:dLbls>
          <c:numFmt formatCode="#,##0" sourceLinked="0"/>
          <c:txPr>
            <a:bodyPr/>
            <a:lstStyle/>
            <a:p>
              <a:pPr>
                <a:defRPr b="0" i="0" strike="noStrike" sz="1400" u="none">
                  <a:solidFill>
                    <a:srgbClr val="0F2A2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F2A24"/>
                </a:solidFill>
                <a:latin typeface="+mn-lt"/>
              </a:defRPr>
            </a:pPr>
            <a:endParaRPr lang="en-US"/>
          </a:p>
        </c:txPr>
        <c:crossAx val="2094734552"/>
        <c:crosses val="autoZero"/>
        <c:auto val="1"/>
        <c:lblAlgn val="ctr"/>
        <c:noMultiLvlLbl val="1"/>
      </c:catAx>
      <c:valAx>
        <c:axId val="2094734552"/>
        <c:scaling>
          <c:orientation val="minMax"/>
          <c:max val="7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Dimensions</c:v>
                </c:pt>
              </c:strCache>
            </c:strRef>
          </c:tx>
          <c:spPr>
            <a:solidFill>
              <a:schemeClr val="accent1"/>
            </a:solidFill>
            <a:ln w="9525" cap="flat">
              <a:solidFill>
                <a:srgbClr val="F9F9F9"/>
              </a:solidFill>
              <a:prstDash val="solid"/>
              <a:round/>
            </a:ln>
            <a:effectLst/>
          </c:spPr>
          <c:dPt>
            <c:idx val="0"/>
            <c:bubble3D val="0"/>
            <c:spPr>
              <a:solidFill>
                <a:srgbClr val="17493D"/>
              </a:solidFill>
              <a:ln w="25400" cap="flat">
                <a:solidFill>
                  <a:srgbClr val="FFFFFF"/>
                </a:solidFill>
                <a:prstDash val="solid"/>
                <a:round/>
              </a:ln>
              <a:effectLst/>
            </c:spPr>
          </c:dPt>
          <c:dPt>
            <c:idx val="1"/>
            <c:bubble3D val="0"/>
            <c:spPr>
              <a:solidFill>
                <a:srgbClr val="F2A33A"/>
              </a:solidFill>
              <a:ln w="25400" cap="flat">
                <a:solidFill>
                  <a:srgbClr val="FFFFFF"/>
                </a:solidFill>
                <a:prstDash val="solid"/>
                <a:round/>
              </a:ln>
              <a:effectLst/>
            </c:spPr>
          </c:dPt>
          <c:dPt>
            <c:idx val="2"/>
            <c:bubble3D val="0"/>
            <c:spPr>
              <a:solidFill>
                <a:srgbClr val="1F8A60"/>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HOG</c:v>
                </c:pt>
                <c:pt idx="1">
                  <c:v>HSV</c:v>
                </c:pt>
                <c:pt idx="2">
                  <c:v>LBP</c:v>
                </c:pt>
              </c:strCache>
            </c:strRef>
          </c:cat>
          <c:val>
            <c:numRef>
              <c:f>Sheet1!$B$2:$B$4</c:f>
              <c:numCache>
                <c:ptCount val="3"/>
                <c:pt idx="0">
                  <c:v>1568</c:v>
                </c:pt>
                <c:pt idx="1">
                  <c:v>48</c:v>
                </c:pt>
                <c:pt idx="2">
                  <c:v>18</c:v>
                </c:pt>
              </c:numCache>
            </c:numRef>
          </c:val>
        </c:ser>
        <c:firstSliceAng val="0"/>
        <c:holeSize val="66"/>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F2A24"/>
                </a:solidFill>
                <a:latin typeface="+mn-lt"/>
              </a:defRPr>
            </a:pPr>
            <a:r>
              <a:rPr sz="1600" b="0" i="0" u="none" strike="noStrike">
                <a:solidFill>
                  <a:srgbClr val="0F2A24"/>
                </a:solidFill>
                <a:latin typeface="+mn-lt"/>
              </a:rPr>
              <a:t>Test accuracy (%)</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8A9A94"/>
            </a:solidFill>
            <a:effectLst/>
          </c:spPr>
          <c:invertIfNegative val="0"/>
          <c:dLbls>
            <c:numFmt formatCode="0.00" sourceLinked="0"/>
            <c:txPr>
              <a:bodyPr/>
              <a:lstStyle/>
              <a:p>
                <a:pPr>
                  <a:defRPr b="0" i="0" strike="noStrike" sz="1600" u="none">
                    <a:solidFill>
                      <a:srgbClr val="0F2A24"/>
                    </a:solidFill>
                    <a:latin typeface="+mn-lt"/>
                  </a:defRPr>
                </a:pPr>
              </a:p>
            </c:txPr>
            <c:showLegendKey val="0"/>
            <c:showVal val="1"/>
            <c:showCatName val="0"/>
            <c:showSerName val="0"/>
            <c:showPercent val="0"/>
            <c:showBubbleSize val="0"/>
            <c:showLeaderLines val="0"/>
          </c:dLbls>
          <c:dPt>
            <c:idx val="0"/>
            <c:invertIfNegative val="0"/>
            <c:bubble3D val="0"/>
            <c:spPr>
              <a:solidFill>
                <a:srgbClr val="8A9A94"/>
              </a:solidFill>
              <a:effectLst/>
            </c:spPr>
          </c:dPt>
          <c:dPt>
            <c:idx val="1"/>
            <c:invertIfNegative val="0"/>
            <c:bubble3D val="0"/>
            <c:spPr>
              <a:solidFill>
                <a:srgbClr val="F2A33A"/>
              </a:solidFill>
              <a:effectLst/>
            </c:spPr>
          </c:dPt>
          <c:dPt>
            <c:idx val="2"/>
            <c:invertIfNegative val="0"/>
            <c:bubble3D val="0"/>
            <c:spPr>
              <a:solidFill>
                <a:srgbClr val="F2A33A"/>
              </a:solidFill>
              <a:effectLst/>
            </c:spPr>
          </c:dPt>
          <c:dPt>
            <c:idx val="3"/>
            <c:invertIfNegative val="0"/>
            <c:bubble3D val="0"/>
            <c:spPr>
              <a:solidFill>
                <a:srgbClr val="1F8A60"/>
              </a:solidFill>
              <a:effectLst/>
            </c:spPr>
          </c:dPt>
          <c:cat>
            <c:multiLvlStrRef>
              <c:f>Sheet1!$A$2:$A$5</c:f>
              <c:multiLvlStrCache>
                <c:ptCount val="4"/>
                <c:lvl>
                  <c:pt idx="0">
                    <c:v>Zero-rule</c:v>
                  </c:pt>
                  <c:pt idx="1">
                    <c:v>SVM (RBF)</c:v>
                  </c:pt>
                  <c:pt idx="2">
                    <c:v>Random Forest</c:v>
                  </c:pt>
                  <c:pt idx="3">
                    <c:v>MobileNetV2</c:v>
                  </c:pt>
                </c:lvl>
              </c:multiLvlStrCache>
            </c:multiLvlStrRef>
          </c:cat>
          <c:val>
            <c:numRef>
              <c:f>Sheet1!$B$2:$B$5</c:f>
              <c:numCache>
                <c:formatCode>General</c:formatCode>
                <c:ptCount val="4"/>
                <c:pt idx="0">
                  <c:v>23.54</c:v>
                </c:pt>
                <c:pt idx="1">
                  <c:v>73.28</c:v>
                </c:pt>
                <c:pt idx="2">
                  <c:v>74.87</c:v>
                </c:pt>
                <c:pt idx="3">
                  <c:v>84.39</c:v>
                </c:pt>
              </c:numCache>
            </c:numRef>
          </c:val>
        </c:ser>
        <c:dLbls>
          <c:numFmt formatCode="0.00" sourceLinked="0"/>
          <c:txPr>
            <a:bodyPr/>
            <a:lstStyle/>
            <a:p>
              <a:pPr>
                <a:defRPr b="0" i="0" strike="noStrike" sz="1600" u="none">
                  <a:solidFill>
                    <a:srgbClr val="0F2A24"/>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F2A24"/>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F2A24"/>
                </a:solidFill>
                <a:latin typeface="+mn-lt"/>
              </a:defRPr>
            </a:pPr>
            <a:r>
              <a:rPr sz="1600" b="0" i="0" u="none" strike="noStrike">
                <a:solidFill>
                  <a:srgbClr val="0F2A24"/>
                </a:solidFill>
                <a:latin typeface="+mn-lt"/>
              </a:rPr>
              <a:t>Expected calibration error (lower is better)</a:t>
            </a:r>
          </a:p>
        </c:rich>
      </c:tx>
      <c:layout/>
      <c:overlay val="0"/>
    </c:title>
    <c:autoTitleDeleted val="0"/>
    <c:plotArea>
      <c:layout/>
      <c:barChart>
        <c:barDir val="col"/>
        <c:grouping val="clustered"/>
        <c:varyColors val="0"/>
        <c:ser>
          <c:idx val="0"/>
          <c:order val="0"/>
          <c:tx>
            <c:strRef>
              <c:f>Sheet1!$B$1</c:f>
              <c:strCache>
                <c:ptCount val="1"/>
                <c:pt idx="0">
                  <c:v>ECE</c:v>
                </c:pt>
              </c:strCache>
            </c:strRef>
          </c:tx>
          <c:spPr>
            <a:solidFill>
              <a:srgbClr val="F2A33A"/>
            </a:solidFill>
            <a:effectLst/>
          </c:spPr>
          <c:invertIfNegative val="0"/>
          <c:dLbls>
            <c:numFmt formatCode="0.0000" sourceLinked="0"/>
            <c:txPr>
              <a:bodyPr/>
              <a:lstStyle/>
              <a:p>
                <a:pPr>
                  <a:defRPr b="0" i="0" strike="noStrike" sz="1400" u="none">
                    <a:solidFill>
                      <a:srgbClr val="0F2A24"/>
                    </a:solidFill>
                    <a:latin typeface="+mn-lt"/>
                  </a:defRPr>
                </a:pPr>
              </a:p>
            </c:txPr>
            <c:showLegendKey val="0"/>
            <c:showVal val="1"/>
            <c:showCatName val="0"/>
            <c:showSerName val="0"/>
            <c:showPercent val="0"/>
            <c:showBubbleSize val="0"/>
            <c:showLeaderLines val="0"/>
          </c:dLbls>
          <c:dPt>
            <c:idx val="0"/>
            <c:invertIfNegative val="0"/>
            <c:bubble3D val="0"/>
            <c:spPr>
              <a:solidFill>
                <a:srgbClr val="F2A33A"/>
              </a:solidFill>
              <a:effectLst/>
            </c:spPr>
          </c:dPt>
          <c:dPt>
            <c:idx val="1"/>
            <c:invertIfNegative val="0"/>
            <c:bubble3D val="0"/>
            <c:spPr>
              <a:solidFill>
                <a:srgbClr val="F2A33A"/>
              </a:solidFill>
              <a:effectLst/>
            </c:spPr>
          </c:dPt>
          <c:dPt>
            <c:idx val="2"/>
            <c:invertIfNegative val="0"/>
            <c:bubble3D val="0"/>
            <c:spPr>
              <a:solidFill>
                <a:srgbClr val="1F8A60"/>
              </a:solidFill>
              <a:effectLst/>
            </c:spPr>
          </c:dPt>
          <c:cat>
            <c:multiLvlStrRef>
              <c:f>Sheet1!$A$2:$A$4</c:f>
              <c:multiLvlStrCache>
                <c:ptCount val="3"/>
                <c:lvl>
                  <c:pt idx="0">
                    <c:v>SVM (RBF)</c:v>
                  </c:pt>
                  <c:pt idx="1">
                    <c:v>Random Forest</c:v>
                  </c:pt>
                  <c:pt idx="2">
                    <c:v>MobileNetV2</c:v>
                  </c:pt>
                </c:lvl>
              </c:multiLvlStrCache>
            </c:multiLvlStrRef>
          </c:cat>
          <c:val>
            <c:numRef>
              <c:f>Sheet1!$B$2:$B$4</c:f>
              <c:numCache>
                <c:formatCode>General</c:formatCode>
                <c:ptCount val="3"/>
                <c:pt idx="0">
                  <c:v>0.059</c:v>
                </c:pt>
                <c:pt idx="1">
                  <c:v>0.3168</c:v>
                </c:pt>
                <c:pt idx="2">
                  <c:v>0.1038</c:v>
                </c:pt>
              </c:numCache>
            </c:numRef>
          </c:val>
        </c:ser>
        <c:dLbls>
          <c:numFmt formatCode="0.0000" sourceLinked="0"/>
          <c:txPr>
            <a:bodyPr/>
            <a:lstStyle/>
            <a:p>
              <a:pPr>
                <a:defRPr b="0" i="0" strike="noStrike" sz="1400" u="none">
                  <a:solidFill>
                    <a:srgbClr val="0F2A24"/>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F2A24"/>
                </a:solidFill>
                <a:latin typeface="+mn-lt"/>
              </a:defRPr>
            </a:pPr>
            <a:endParaRPr lang="en-US"/>
          </a:p>
        </c:txPr>
        <c:crossAx val="2094734552"/>
        <c:crosses val="autoZero"/>
        <c:auto val="1"/>
        <c:lblAlgn val="ctr"/>
        <c:noMultiLvlLbl val="1"/>
      </c:catAx>
      <c:valAx>
        <c:axId val="2094734552"/>
        <c:scaling>
          <c:orientation val="minMax"/>
          <c:max val="0.3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F2A24"/>
                </a:solidFill>
                <a:latin typeface="+mn-lt"/>
              </a:defRPr>
            </a:pPr>
            <a:r>
              <a:rPr sz="1600" b="0" i="0" u="none" strike="noStrike">
                <a:solidFill>
                  <a:srgbClr val="0F2A24"/>
                </a:solidFill>
                <a:latin typeface="+mn-lt"/>
              </a:rPr>
              <a:t>Accuracy (%) before and after abstaining</a:t>
            </a:r>
          </a:p>
        </c:rich>
      </c:tx>
      <c:layout/>
      <c:overlay val="0"/>
    </c:title>
    <c:autoTitleDeleted val="0"/>
    <c:plotArea>
      <c:layout/>
      <c:barChart>
        <c:barDir val="col"/>
        <c:grouping val="clustered"/>
        <c:varyColors val="0"/>
        <c:ser>
          <c:idx val="0"/>
          <c:order val="0"/>
          <c:tx>
            <c:strRef>
              <c:f>Sheet1!$B$1</c:f>
              <c:strCache>
                <c:ptCount val="1"/>
                <c:pt idx="0">
                  <c:v>All predictions</c:v>
                </c:pt>
              </c:strCache>
            </c:strRef>
          </c:tx>
          <c:spPr>
            <a:solidFill>
              <a:srgbClr val="9DBFB0"/>
            </a:solidFill>
            <a:effectLst/>
          </c:spPr>
          <c:invertIfNegative val="0"/>
          <c:dLbls>
            <c:numFmt formatCode="0.00" sourceLinked="0"/>
            <c:txPr>
              <a:bodyPr/>
              <a:lstStyle/>
              <a:p>
                <a:pPr>
                  <a:defRPr b="0" i="0" strike="noStrike" sz="1400" u="none">
                    <a:solidFill>
                      <a:srgbClr val="0F2A24"/>
                    </a:solidFill>
                    <a:latin typeface="+mn-lt"/>
                  </a:defRPr>
                </a:pPr>
              </a:p>
            </c:txPr>
            <c:showLegendKey val="0"/>
            <c:showVal val="1"/>
            <c:showCatName val="0"/>
            <c:showSerName val="0"/>
            <c:showPercent val="0"/>
            <c:showBubbleSize val="0"/>
            <c:showLeaderLines val="0"/>
          </c:dLbls>
          <c:cat>
            <c:multiLvlStrRef>
              <c:f>Sheet1!$A$2:$A$3</c:f>
              <c:multiLvlStrCache>
                <c:ptCount val="2"/>
                <c:lvl>
                  <c:pt idx="0">
                    <c:v>SVM (RBF)</c:v>
                  </c:pt>
                  <c:pt idx="1">
                    <c:v>MobileNetV2</c:v>
                  </c:pt>
                </c:lvl>
              </c:multiLvlStrCache>
            </c:multiLvlStrRef>
          </c:cat>
          <c:val>
            <c:numRef>
              <c:f>Sheet1!$B$2:$B$3</c:f>
              <c:numCache>
                <c:formatCode>General</c:formatCode>
                <c:ptCount val="2"/>
                <c:pt idx="0">
                  <c:v>73.28</c:v>
                </c:pt>
                <c:pt idx="1">
                  <c:v>84.39</c:v>
                </c:pt>
              </c:numCache>
            </c:numRef>
          </c:val>
        </c:ser>
        <c:ser>
          <c:idx val="1"/>
          <c:order val="1"/>
          <c:tx>
            <c:strRef>
              <c:f>Sheet1!$C$1</c:f>
              <c:strCache>
                <c:ptCount val="1"/>
                <c:pt idx="0">
                  <c:v>With abstain, τ = 0.60</c:v>
                </c:pt>
              </c:strCache>
            </c:strRef>
          </c:tx>
          <c:spPr>
            <a:solidFill>
              <a:srgbClr val="1F8A60"/>
            </a:solidFill>
            <a:effectLst/>
          </c:spPr>
          <c:invertIfNegative val="0"/>
          <c:dLbls>
            <c:numFmt formatCode="0.00" sourceLinked="0"/>
            <c:txPr>
              <a:bodyPr/>
              <a:lstStyle/>
              <a:p>
                <a:pPr>
                  <a:defRPr b="0" i="0" strike="noStrike" sz="1400" u="none">
                    <a:solidFill>
                      <a:srgbClr val="0F2A24"/>
                    </a:solidFill>
                    <a:latin typeface="+mn-lt"/>
                  </a:defRPr>
                </a:pPr>
              </a:p>
            </c:txPr>
            <c:showLegendKey val="0"/>
            <c:showVal val="1"/>
            <c:showCatName val="0"/>
            <c:showSerName val="0"/>
            <c:showPercent val="0"/>
            <c:showBubbleSize val="0"/>
            <c:showLeaderLines val="0"/>
          </c:dLbls>
          <c:cat>
            <c:multiLvlStrRef>
              <c:f>Sheet1!$A$2:$A$3</c:f>
              <c:multiLvlStrCache>
                <c:ptCount val="2"/>
                <c:lvl>
                  <c:pt idx="0">
                    <c:v>SVM (RBF)</c:v>
                  </c:pt>
                  <c:pt idx="1">
                    <c:v>MobileNetV2</c:v>
                  </c:pt>
                </c:lvl>
              </c:multiLvlStrCache>
            </c:multiLvlStrRef>
          </c:cat>
          <c:val>
            <c:numRef>
              <c:f>Sheet1!$C$2:$C$3</c:f>
              <c:numCache>
                <c:formatCode>General</c:formatCode>
                <c:ptCount val="2"/>
                <c:pt idx="0">
                  <c:v>89.27</c:v>
                </c:pt>
                <c:pt idx="1">
                  <c:v>94.6</c:v>
                </c:pt>
              </c:numCache>
            </c:numRef>
          </c:val>
        </c:ser>
        <c:dLbls>
          <c:numFmt formatCode="0.00" sourceLinked="0"/>
          <c:txPr>
            <a:bodyPr/>
            <a:lstStyle/>
            <a:p>
              <a:pPr>
                <a:defRPr b="0" i="0" strike="noStrike" sz="1400" u="none">
                  <a:solidFill>
                    <a:srgbClr val="0F2A24"/>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F2A24"/>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0F2A2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group and the core question: can hand-crafted descriptors compete with calibrated transfer learning on everyday waste, and can the system admit when it is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Single-stream recycling means one contaminated batch can be rejected wholesale. Errors are asymmetric, so the system should be allowed to say 'I'm not sure'. Also, recognising a material is not the same as being allowed to bin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TrashNet has 2,527 images in six classes. Paper has 594 images, trash only 137, an imbalance of about 4.3 to 1. We handle it with a stratified split and inverse-frequency loss weighting, and a perceptual dHash check removes near-duplicates so nothing leaks between train, validation and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descriptor families are concatenated into 1,634 dimensions. HOG dominates the dimensionality (1,568 of 1,634) and carries edge geometry; HSV adds colour robust to brightness; LBP adds surface texture. Two classifiers sit on top: an RBF SVM with Platt scaling for probabilities, and a balanced random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MobileNetV2 is small enough for edge devices: about 3.5 million parameters and roughly 14 MB. Training is two-stage. First we freeze the backbone and train a Dropout(0.3) plus linear head. Then we unfreeze the top bottleneck blocks and fine-tune with a cosine annealing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MobileNetV2 reaches 84.39% accuracy and 0.8268 macro F1, versus 74.87% and 0.7405 for the best classical model. The zero-rule baseline is 23.54%. Note that the SVM has the lowest ECE (0.0590), so calibration is a separate story, covered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representation gap. HOG assumes stable edge structure, which a crushed can destroys: deep learning recovers 18.0% recall on metal. LBP reads crumpled plastic as texture noise: deep learning recovers 16.6% recall on plastic. Show the qualitative failure cases from your notebook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SVM is the best calibrated model (ECE 0.0590), MobileNetV2 is reasonable at 0.1038, and the random forest is poorly calibrated at 0.3168. Rejecting the 15.87% least-confident MobileNetV2 predictions at tau = 0.60 lifts retained accuracy from 84.39% to 94.60%; the SVM goes from 73.28% to 89.27%. Show the reliability diagram and Pareto curve from your notebook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live demo: upload an image, compare the classical model and MobileNetV2 side by side, read the calibrated probability bars, and show the warning banner firing when confidence falls below 0.60. The slide is a schematic; swap in a screenshot if you prefer.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points: deep features beat hand-crafted descriptors, abstention makes the system operationally safer, and the next steps are segmentation for composite items and INT8 quantization.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6858000" cy="26517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48640"/>
            <a:ext cx="6858000" cy="320040"/>
          </a:xfrm>
          <a:prstGeom prst="rect">
            <a:avLst/>
          </a:prstGeom>
          <a:noFill/>
          <a:ln/>
        </p:spPr>
        <p:txBody>
          <a:bodyPr wrap="square" lIns="0" tIns="0" rIns="0" bIns="0" rtlCol="0" anchor="t"/>
          <a:lstStyle/>
          <a:p>
            <a:pPr indent="0" marL="0">
              <a:buNone/>
            </a:pPr>
            <a:r>
              <a:rPr lang="en-US" sz="1400" b="1" spc="200" kern="0" dirty="0">
                <a:solidFill>
                  <a:schemeClr val="accent6"/>
                </a:solidFill>
              </a:rPr>
              <a:t>AML-DL  ·  GROUP T041  ·  PROJECT 12</a:t>
            </a:r>
            <a:endParaRPr lang="en-US" sz="1400" dirty="0"/>
          </a:p>
        </p:txBody>
      </p:sp>
      <p:sp>
        <p:nvSpPr>
          <p:cNvPr id="3" name="Text 0"/>
          <p:cNvSpPr/>
          <p:nvPr>
            <p:ph idx="100" type="title" hasCustomPrompt="1"/>
          </p:nvPr>
        </p:nvSpPr>
        <p:spPr>
          <a:xfrm>
            <a:off x="548640" y="1143000"/>
            <a:ext cx="6858000" cy="2651760"/>
          </a:xfrm>
          <a:prstGeom prst="rect">
            <a:avLst/>
          </a:prstGeom>
          <a:noFill/>
          <a:ln/>
        </p:spPr>
        <p:txBody>
          <a:bodyPr wrap="square" lIns="0" tIns="0" rIns="0" bIns="0" rtlCol="0" anchor="t"/>
          <a:lstStyle/>
          <a:p>
            <a:pPr algn="l" indent="0" marL="0">
              <a:buNone/>
            </a:pPr>
            <a:r>
              <a:rPr lang="en-US" sz="3800" b="1" dirty="0">
                <a:solidFill>
                  <a:schemeClr val="bg1"/>
                </a:solidFill>
              </a:rPr>
              <a:t>Everyday Waste Sorting via Manual Descriptors vs. Calibrated Deep Transfer Learning</a:t>
            </a:r>
            <a:endParaRPr lang="en-US" sz="3800" dirty="0"/>
          </a:p>
        </p:txBody>
      </p:sp>
      <p:sp>
        <p:nvSpPr>
          <p:cNvPr id="4" name="Text 2"/>
          <p:cNvSpPr txBox="1"/>
          <p:nvPr/>
        </p:nvSpPr>
        <p:spPr>
          <a:xfrm>
            <a:off x="548640" y="3840480"/>
            <a:ext cx="6675120" cy="731520"/>
          </a:xfrm>
          <a:prstGeom prst="rect">
            <a:avLst/>
          </a:prstGeom>
          <a:noFill/>
          <a:ln/>
        </p:spPr>
        <p:txBody>
          <a:bodyPr wrap="square" lIns="0" tIns="0" rIns="0" bIns="0" rtlCol="0" anchor="t"/>
          <a:lstStyle/>
          <a:p>
            <a:pPr indent="0" marL="0">
              <a:buNone/>
            </a:pPr>
            <a:r>
              <a:rPr lang="en-US" sz="1800" dirty="0">
                <a:solidFill>
                  <a:schemeClr val="accent4"/>
                </a:solidFill>
              </a:rPr>
              <a:t>Investigating the visual representation gap and selective abstention on post-consumer recyclables</a:t>
            </a:r>
            <a:endParaRPr lang="en-US" sz="1800" dirty="0"/>
          </a:p>
        </p:txBody>
      </p:sp>
      <p:sp>
        <p:nvSpPr>
          <p:cNvPr id="5" name="class tile Cardboard"/>
          <p:cNvSpPr/>
          <p:nvPr/>
        </p:nvSpPr>
        <p:spPr>
          <a:xfrm>
            <a:off x="7772400" y="822960"/>
            <a:ext cx="1188720" cy="1828800"/>
          </a:xfrm>
          <a:prstGeom prst="roundRect">
            <a:avLst>
              <a:gd name="adj" fmla="val 11538"/>
            </a:avLst>
          </a:prstGeom>
          <a:solidFill>
            <a:schemeClr val="accent3"/>
          </a:solidFill>
          <a:ln/>
        </p:spPr>
      </p:sp>
      <p:sp>
        <p:nvSpPr>
          <p:cNvPr id="6" name="Cardboard icon circle"/>
          <p:cNvSpPr/>
          <p:nvPr/>
        </p:nvSpPr>
        <p:spPr>
          <a:xfrm>
            <a:off x="8001000" y="1097280"/>
            <a:ext cx="731520" cy="731520"/>
          </a:xfrm>
          <a:prstGeom prst="ellipse">
            <a:avLst/>
          </a:prstGeom>
          <a:solidFill>
            <a:schemeClr val="accent6"/>
          </a:solidFill>
          <a:ln/>
        </p:spPr>
      </p:sp>
      <p:pic>
        <p:nvPicPr>
          <p:cNvPr id="7" name="Image 0" descr="Cardboard icon">    </p:cNvPr>
          <p:cNvPicPr>
            <a:picLocks noChangeAspect="1"/>
          </p:cNvPicPr>
          <p:nvPr/>
        </p:nvPicPr>
        <p:blipFill>
          <a:blip r:embed="rId1"/>
          <a:stretch>
            <a:fillRect/>
          </a:stretch>
        </p:blipFill>
        <p:spPr>
          <a:xfrm>
            <a:off x="8183880" y="1280160"/>
            <a:ext cx="365760" cy="365760"/>
          </a:xfrm>
          <a:prstGeom prst="rect">
            <a:avLst/>
          </a:prstGeom>
        </p:spPr>
      </p:pic>
      <p:sp>
        <p:nvSpPr>
          <p:cNvPr id="8" name="Text 5"/>
          <p:cNvSpPr txBox="1"/>
          <p:nvPr/>
        </p:nvSpPr>
        <p:spPr>
          <a:xfrm>
            <a:off x="7772400" y="2057400"/>
            <a:ext cx="1188720" cy="320040"/>
          </a:xfrm>
          <a:prstGeom prst="rect">
            <a:avLst/>
          </a:prstGeom>
          <a:noFill/>
          <a:ln/>
        </p:spPr>
        <p:txBody>
          <a:bodyPr wrap="square" lIns="0" tIns="0" rIns="0" bIns="0" rtlCol="0" anchor="t"/>
          <a:lstStyle/>
          <a:p>
            <a:pPr algn="ctr" indent="0" marL="0">
              <a:buNone/>
            </a:pPr>
            <a:r>
              <a:rPr lang="en-US" sz="1400" b="1" dirty="0">
                <a:solidFill>
                  <a:schemeClr val="bg1"/>
                </a:solidFill>
              </a:rPr>
              <a:t>Cardboard</a:t>
            </a:r>
            <a:endParaRPr lang="en-US" sz="1400" dirty="0"/>
          </a:p>
        </p:txBody>
      </p:sp>
      <p:sp>
        <p:nvSpPr>
          <p:cNvPr id="9" name="class tile Glass"/>
          <p:cNvSpPr/>
          <p:nvPr/>
        </p:nvSpPr>
        <p:spPr>
          <a:xfrm>
            <a:off x="9098280" y="822960"/>
            <a:ext cx="1188720" cy="1828800"/>
          </a:xfrm>
          <a:prstGeom prst="roundRect">
            <a:avLst>
              <a:gd name="adj" fmla="val 11538"/>
            </a:avLst>
          </a:prstGeom>
          <a:solidFill>
            <a:schemeClr val="accent3"/>
          </a:solidFill>
          <a:ln/>
        </p:spPr>
      </p:sp>
      <p:sp>
        <p:nvSpPr>
          <p:cNvPr id="10" name="Glass icon circle"/>
          <p:cNvSpPr/>
          <p:nvPr/>
        </p:nvSpPr>
        <p:spPr>
          <a:xfrm>
            <a:off x="9326880" y="1097280"/>
            <a:ext cx="731520" cy="731520"/>
          </a:xfrm>
          <a:prstGeom prst="ellipse">
            <a:avLst/>
          </a:prstGeom>
          <a:solidFill>
            <a:schemeClr val="accent6"/>
          </a:solidFill>
          <a:ln/>
        </p:spPr>
      </p:sp>
      <p:pic>
        <p:nvPicPr>
          <p:cNvPr id="11" name="Image 1" descr="Glass icon">    </p:cNvPr>
          <p:cNvPicPr>
            <a:picLocks noChangeAspect="1"/>
          </p:cNvPicPr>
          <p:nvPr/>
        </p:nvPicPr>
        <p:blipFill>
          <a:blip r:embed="rId2"/>
          <a:stretch>
            <a:fillRect/>
          </a:stretch>
        </p:blipFill>
        <p:spPr>
          <a:xfrm>
            <a:off x="9509760" y="1280160"/>
            <a:ext cx="365760" cy="365760"/>
          </a:xfrm>
          <a:prstGeom prst="rect">
            <a:avLst/>
          </a:prstGeom>
        </p:spPr>
      </p:pic>
      <p:sp>
        <p:nvSpPr>
          <p:cNvPr id="12" name="Text 8"/>
          <p:cNvSpPr txBox="1"/>
          <p:nvPr/>
        </p:nvSpPr>
        <p:spPr>
          <a:xfrm>
            <a:off x="9098280" y="2057400"/>
            <a:ext cx="1188720" cy="320040"/>
          </a:xfrm>
          <a:prstGeom prst="rect">
            <a:avLst/>
          </a:prstGeom>
          <a:noFill/>
          <a:ln/>
        </p:spPr>
        <p:txBody>
          <a:bodyPr wrap="square" lIns="0" tIns="0" rIns="0" bIns="0" rtlCol="0" anchor="t"/>
          <a:lstStyle/>
          <a:p>
            <a:pPr algn="ctr" indent="0" marL="0">
              <a:buNone/>
            </a:pPr>
            <a:r>
              <a:rPr lang="en-US" sz="1400" b="1" dirty="0">
                <a:solidFill>
                  <a:schemeClr val="bg1"/>
                </a:solidFill>
              </a:rPr>
              <a:t>Glass</a:t>
            </a:r>
            <a:endParaRPr lang="en-US" sz="1400" dirty="0"/>
          </a:p>
        </p:txBody>
      </p:sp>
      <p:sp>
        <p:nvSpPr>
          <p:cNvPr id="13" name="class tile Metal"/>
          <p:cNvSpPr/>
          <p:nvPr/>
        </p:nvSpPr>
        <p:spPr>
          <a:xfrm>
            <a:off x="10424160" y="822960"/>
            <a:ext cx="1188720" cy="1828800"/>
          </a:xfrm>
          <a:prstGeom prst="roundRect">
            <a:avLst>
              <a:gd name="adj" fmla="val 11538"/>
            </a:avLst>
          </a:prstGeom>
          <a:solidFill>
            <a:schemeClr val="accent3"/>
          </a:solidFill>
          <a:ln/>
        </p:spPr>
      </p:sp>
      <p:sp>
        <p:nvSpPr>
          <p:cNvPr id="14" name="Metal icon circle"/>
          <p:cNvSpPr/>
          <p:nvPr/>
        </p:nvSpPr>
        <p:spPr>
          <a:xfrm>
            <a:off x="10652760" y="1097280"/>
            <a:ext cx="731520" cy="731520"/>
          </a:xfrm>
          <a:prstGeom prst="ellipse">
            <a:avLst/>
          </a:prstGeom>
          <a:solidFill>
            <a:schemeClr val="accent6"/>
          </a:solidFill>
          <a:ln/>
        </p:spPr>
      </p:sp>
      <p:pic>
        <p:nvPicPr>
          <p:cNvPr id="15" name="Image 2" descr="Metal icon">    </p:cNvPr>
          <p:cNvPicPr>
            <a:picLocks noChangeAspect="1"/>
          </p:cNvPicPr>
          <p:nvPr/>
        </p:nvPicPr>
        <p:blipFill>
          <a:blip r:embed="rId3"/>
          <a:stretch>
            <a:fillRect/>
          </a:stretch>
        </p:blipFill>
        <p:spPr>
          <a:xfrm>
            <a:off x="10835640" y="1280160"/>
            <a:ext cx="365760" cy="365760"/>
          </a:xfrm>
          <a:prstGeom prst="rect">
            <a:avLst/>
          </a:prstGeom>
        </p:spPr>
      </p:pic>
      <p:sp>
        <p:nvSpPr>
          <p:cNvPr id="16" name="Text 11"/>
          <p:cNvSpPr txBox="1"/>
          <p:nvPr/>
        </p:nvSpPr>
        <p:spPr>
          <a:xfrm>
            <a:off x="10424160" y="2057400"/>
            <a:ext cx="1188720" cy="320040"/>
          </a:xfrm>
          <a:prstGeom prst="rect">
            <a:avLst/>
          </a:prstGeom>
          <a:noFill/>
          <a:ln/>
        </p:spPr>
        <p:txBody>
          <a:bodyPr wrap="square" lIns="0" tIns="0" rIns="0" bIns="0" rtlCol="0" anchor="t"/>
          <a:lstStyle/>
          <a:p>
            <a:pPr algn="ctr" indent="0" marL="0">
              <a:buNone/>
            </a:pPr>
            <a:r>
              <a:rPr lang="en-US" sz="1400" b="1" dirty="0">
                <a:solidFill>
                  <a:schemeClr val="bg1"/>
                </a:solidFill>
              </a:rPr>
              <a:t>Metal</a:t>
            </a:r>
            <a:endParaRPr lang="en-US" sz="1400" dirty="0"/>
          </a:p>
        </p:txBody>
      </p:sp>
      <p:sp>
        <p:nvSpPr>
          <p:cNvPr id="17" name="class tile Paper"/>
          <p:cNvSpPr/>
          <p:nvPr/>
        </p:nvSpPr>
        <p:spPr>
          <a:xfrm>
            <a:off x="7772400" y="2788920"/>
            <a:ext cx="1188720" cy="1828800"/>
          </a:xfrm>
          <a:prstGeom prst="roundRect">
            <a:avLst>
              <a:gd name="adj" fmla="val 11538"/>
            </a:avLst>
          </a:prstGeom>
          <a:solidFill>
            <a:schemeClr val="accent3"/>
          </a:solidFill>
          <a:ln/>
        </p:spPr>
      </p:sp>
      <p:sp>
        <p:nvSpPr>
          <p:cNvPr id="18" name="Paper icon circle"/>
          <p:cNvSpPr/>
          <p:nvPr/>
        </p:nvSpPr>
        <p:spPr>
          <a:xfrm>
            <a:off x="8001000" y="3063240"/>
            <a:ext cx="731520" cy="731520"/>
          </a:xfrm>
          <a:prstGeom prst="ellipse">
            <a:avLst/>
          </a:prstGeom>
          <a:solidFill>
            <a:schemeClr val="accent6"/>
          </a:solidFill>
          <a:ln/>
        </p:spPr>
      </p:sp>
      <p:pic>
        <p:nvPicPr>
          <p:cNvPr id="19" name="Image 3" descr="Paper icon">    </p:cNvPr>
          <p:cNvPicPr>
            <a:picLocks noChangeAspect="1"/>
          </p:cNvPicPr>
          <p:nvPr/>
        </p:nvPicPr>
        <p:blipFill>
          <a:blip r:embed="rId4"/>
          <a:stretch>
            <a:fillRect/>
          </a:stretch>
        </p:blipFill>
        <p:spPr>
          <a:xfrm>
            <a:off x="8183880" y="3246120"/>
            <a:ext cx="365760" cy="365760"/>
          </a:xfrm>
          <a:prstGeom prst="rect">
            <a:avLst/>
          </a:prstGeom>
        </p:spPr>
      </p:pic>
      <p:sp>
        <p:nvSpPr>
          <p:cNvPr id="20" name="Text 14"/>
          <p:cNvSpPr txBox="1"/>
          <p:nvPr/>
        </p:nvSpPr>
        <p:spPr>
          <a:xfrm>
            <a:off x="7772400" y="4023360"/>
            <a:ext cx="1188720" cy="320040"/>
          </a:xfrm>
          <a:prstGeom prst="rect">
            <a:avLst/>
          </a:prstGeom>
          <a:noFill/>
          <a:ln/>
        </p:spPr>
        <p:txBody>
          <a:bodyPr wrap="square" lIns="0" tIns="0" rIns="0" bIns="0" rtlCol="0" anchor="t"/>
          <a:lstStyle/>
          <a:p>
            <a:pPr algn="ctr" indent="0" marL="0">
              <a:buNone/>
            </a:pPr>
            <a:r>
              <a:rPr lang="en-US" sz="1400" b="1" dirty="0">
                <a:solidFill>
                  <a:schemeClr val="bg1"/>
                </a:solidFill>
              </a:rPr>
              <a:t>Paper</a:t>
            </a:r>
            <a:endParaRPr lang="en-US" sz="1400" dirty="0"/>
          </a:p>
        </p:txBody>
      </p:sp>
      <p:sp>
        <p:nvSpPr>
          <p:cNvPr id="21" name="class tile Plastic"/>
          <p:cNvSpPr/>
          <p:nvPr/>
        </p:nvSpPr>
        <p:spPr>
          <a:xfrm>
            <a:off x="9098280" y="2788920"/>
            <a:ext cx="1188720" cy="1828800"/>
          </a:xfrm>
          <a:prstGeom prst="roundRect">
            <a:avLst>
              <a:gd name="adj" fmla="val 11538"/>
            </a:avLst>
          </a:prstGeom>
          <a:solidFill>
            <a:schemeClr val="accent3"/>
          </a:solidFill>
          <a:ln/>
        </p:spPr>
      </p:sp>
      <p:sp>
        <p:nvSpPr>
          <p:cNvPr id="22" name="Plastic icon circle"/>
          <p:cNvSpPr/>
          <p:nvPr/>
        </p:nvSpPr>
        <p:spPr>
          <a:xfrm>
            <a:off x="9326880" y="3063240"/>
            <a:ext cx="731520" cy="731520"/>
          </a:xfrm>
          <a:prstGeom prst="ellipse">
            <a:avLst/>
          </a:prstGeom>
          <a:solidFill>
            <a:schemeClr val="accent6"/>
          </a:solidFill>
          <a:ln/>
        </p:spPr>
      </p:sp>
      <p:pic>
        <p:nvPicPr>
          <p:cNvPr id="23" name="Image 4" descr="Plastic icon">    </p:cNvPr>
          <p:cNvPicPr>
            <a:picLocks noChangeAspect="1"/>
          </p:cNvPicPr>
          <p:nvPr/>
        </p:nvPicPr>
        <p:blipFill>
          <a:blip r:embed="rId5"/>
          <a:stretch>
            <a:fillRect/>
          </a:stretch>
        </p:blipFill>
        <p:spPr>
          <a:xfrm>
            <a:off x="9509760" y="3246120"/>
            <a:ext cx="365760" cy="365760"/>
          </a:xfrm>
          <a:prstGeom prst="rect">
            <a:avLst/>
          </a:prstGeom>
        </p:spPr>
      </p:pic>
      <p:sp>
        <p:nvSpPr>
          <p:cNvPr id="24" name="Text 17"/>
          <p:cNvSpPr txBox="1"/>
          <p:nvPr/>
        </p:nvSpPr>
        <p:spPr>
          <a:xfrm>
            <a:off x="9098280" y="4023360"/>
            <a:ext cx="1188720" cy="320040"/>
          </a:xfrm>
          <a:prstGeom prst="rect">
            <a:avLst/>
          </a:prstGeom>
          <a:noFill/>
          <a:ln/>
        </p:spPr>
        <p:txBody>
          <a:bodyPr wrap="square" lIns="0" tIns="0" rIns="0" bIns="0" rtlCol="0" anchor="t"/>
          <a:lstStyle/>
          <a:p>
            <a:pPr algn="ctr" indent="0" marL="0">
              <a:buNone/>
            </a:pPr>
            <a:r>
              <a:rPr lang="en-US" sz="1400" b="1" dirty="0">
                <a:solidFill>
                  <a:schemeClr val="bg1"/>
                </a:solidFill>
              </a:rPr>
              <a:t>Plastic</a:t>
            </a:r>
            <a:endParaRPr lang="en-US" sz="1400" dirty="0"/>
          </a:p>
        </p:txBody>
      </p:sp>
      <p:sp>
        <p:nvSpPr>
          <p:cNvPr id="25" name="class tile Trash"/>
          <p:cNvSpPr/>
          <p:nvPr/>
        </p:nvSpPr>
        <p:spPr>
          <a:xfrm>
            <a:off x="10424160" y="2788920"/>
            <a:ext cx="1188720" cy="1828800"/>
          </a:xfrm>
          <a:prstGeom prst="roundRect">
            <a:avLst>
              <a:gd name="adj" fmla="val 11538"/>
            </a:avLst>
          </a:prstGeom>
          <a:solidFill>
            <a:schemeClr val="accent3"/>
          </a:solidFill>
          <a:ln/>
        </p:spPr>
      </p:sp>
      <p:sp>
        <p:nvSpPr>
          <p:cNvPr id="26" name="Trash icon circle"/>
          <p:cNvSpPr/>
          <p:nvPr/>
        </p:nvSpPr>
        <p:spPr>
          <a:xfrm>
            <a:off x="10652760" y="3063240"/>
            <a:ext cx="731520" cy="731520"/>
          </a:xfrm>
          <a:prstGeom prst="ellipse">
            <a:avLst/>
          </a:prstGeom>
          <a:solidFill>
            <a:schemeClr val="accent6"/>
          </a:solidFill>
          <a:ln/>
        </p:spPr>
      </p:sp>
      <p:pic>
        <p:nvPicPr>
          <p:cNvPr id="27" name="Image 5" descr="Trash icon">    </p:cNvPr>
          <p:cNvPicPr>
            <a:picLocks noChangeAspect="1"/>
          </p:cNvPicPr>
          <p:nvPr/>
        </p:nvPicPr>
        <p:blipFill>
          <a:blip r:embed="rId6"/>
          <a:stretch>
            <a:fillRect/>
          </a:stretch>
        </p:blipFill>
        <p:spPr>
          <a:xfrm>
            <a:off x="10835640" y="3246120"/>
            <a:ext cx="365760" cy="365760"/>
          </a:xfrm>
          <a:prstGeom prst="rect">
            <a:avLst/>
          </a:prstGeom>
        </p:spPr>
      </p:pic>
      <p:sp>
        <p:nvSpPr>
          <p:cNvPr id="28" name="Text 20"/>
          <p:cNvSpPr txBox="1"/>
          <p:nvPr/>
        </p:nvSpPr>
        <p:spPr>
          <a:xfrm>
            <a:off x="10424160" y="4023360"/>
            <a:ext cx="1188720" cy="320040"/>
          </a:xfrm>
          <a:prstGeom prst="rect">
            <a:avLst/>
          </a:prstGeom>
          <a:noFill/>
          <a:ln/>
        </p:spPr>
        <p:txBody>
          <a:bodyPr wrap="square" lIns="0" tIns="0" rIns="0" bIns="0" rtlCol="0" anchor="t"/>
          <a:lstStyle/>
          <a:p>
            <a:pPr algn="ctr" indent="0" marL="0">
              <a:buNone/>
            </a:pPr>
            <a:r>
              <a:rPr lang="en-US" sz="1400" b="1" dirty="0">
                <a:solidFill>
                  <a:schemeClr val="bg1"/>
                </a:solidFill>
              </a:rPr>
              <a:t>Trash</a:t>
            </a:r>
            <a:endParaRPr lang="en-US" sz="1400" dirty="0"/>
          </a:p>
        </p:txBody>
      </p:sp>
      <p:sp>
        <p:nvSpPr>
          <p:cNvPr id="29" name="Text 21"/>
          <p:cNvSpPr txBox="1"/>
          <p:nvPr/>
        </p:nvSpPr>
        <p:spPr>
          <a:xfrm>
            <a:off x="548640" y="4892040"/>
            <a:ext cx="2743200" cy="274320"/>
          </a:xfrm>
          <a:prstGeom prst="rect">
            <a:avLst/>
          </a:prstGeom>
          <a:noFill/>
          <a:ln/>
        </p:spPr>
        <p:txBody>
          <a:bodyPr wrap="square" lIns="0" tIns="0" rIns="0" bIns="0" rtlCol="0" anchor="t"/>
          <a:lstStyle/>
          <a:p>
            <a:pPr indent="0" marL="0">
              <a:buNone/>
            </a:pPr>
            <a:r>
              <a:rPr lang="en-US" sz="1200" b="1" spc="300" kern="0" dirty="0">
                <a:solidFill>
                  <a:schemeClr val="accent6"/>
                </a:solidFill>
              </a:rPr>
              <a:t>TEAM</a:t>
            </a:r>
            <a:endParaRPr lang="en-US" sz="1200" dirty="0"/>
          </a:p>
        </p:txBody>
      </p:sp>
      <p:sp>
        <p:nvSpPr>
          <p:cNvPr id="30" name="Text 22"/>
          <p:cNvSpPr txBox="1"/>
          <p:nvPr/>
        </p:nvSpPr>
        <p:spPr>
          <a:xfrm>
            <a:off x="548640" y="5257800"/>
            <a:ext cx="2103120" cy="320040"/>
          </a:xfrm>
          <a:prstGeom prst="rect">
            <a:avLst/>
          </a:prstGeom>
          <a:noFill/>
          <a:ln/>
        </p:spPr>
        <p:txBody>
          <a:bodyPr wrap="square" lIns="0" tIns="0" rIns="0" bIns="0" rtlCol="0" anchor="t"/>
          <a:lstStyle/>
          <a:p>
            <a:pPr indent="0" marL="0">
              <a:buNone/>
            </a:pPr>
            <a:r>
              <a:rPr lang="en-US" sz="1800" b="1" dirty="0">
                <a:solidFill>
                  <a:schemeClr val="bg1"/>
                </a:solidFill>
              </a:rPr>
              <a:t>Vansh Sharma</a:t>
            </a:r>
            <a:endParaRPr lang="en-US" sz="1800" dirty="0"/>
          </a:p>
        </p:txBody>
      </p:sp>
      <p:sp>
        <p:nvSpPr>
          <p:cNvPr id="31" name="Text 23"/>
          <p:cNvSpPr txBox="1"/>
          <p:nvPr/>
        </p:nvSpPr>
        <p:spPr>
          <a:xfrm>
            <a:off x="548640" y="5623560"/>
            <a:ext cx="2103120" cy="274320"/>
          </a:xfrm>
          <a:prstGeom prst="rect">
            <a:avLst/>
          </a:prstGeom>
          <a:noFill/>
          <a:ln/>
        </p:spPr>
        <p:txBody>
          <a:bodyPr wrap="square" lIns="0" tIns="0" rIns="0" bIns="0" rtlCol="0" anchor="t"/>
          <a:lstStyle/>
          <a:p>
            <a:pPr indent="0" marL="0">
              <a:buNone/>
            </a:pPr>
            <a:r>
              <a:rPr lang="en-US" sz="1400" dirty="0">
                <a:solidFill>
                  <a:schemeClr val="accent4"/>
                </a:solidFill>
              </a:rPr>
              <a:t>2401010495</a:t>
            </a:r>
            <a:endParaRPr lang="en-US" sz="1400" dirty="0"/>
          </a:p>
        </p:txBody>
      </p:sp>
      <p:sp>
        <p:nvSpPr>
          <p:cNvPr id="32" name="Text 24"/>
          <p:cNvSpPr txBox="1"/>
          <p:nvPr/>
        </p:nvSpPr>
        <p:spPr>
          <a:xfrm>
            <a:off x="2788920" y="5257800"/>
            <a:ext cx="2103120" cy="320040"/>
          </a:xfrm>
          <a:prstGeom prst="rect">
            <a:avLst/>
          </a:prstGeom>
          <a:noFill/>
          <a:ln/>
        </p:spPr>
        <p:txBody>
          <a:bodyPr wrap="square" lIns="0" tIns="0" rIns="0" bIns="0" rtlCol="0" anchor="t"/>
          <a:lstStyle/>
          <a:p>
            <a:pPr indent="0" marL="0">
              <a:buNone/>
            </a:pPr>
            <a:r>
              <a:rPr lang="en-US" sz="1800" b="1" dirty="0">
                <a:solidFill>
                  <a:schemeClr val="bg1"/>
                </a:solidFill>
              </a:rPr>
              <a:t>Shyam Verma</a:t>
            </a:r>
            <a:endParaRPr lang="en-US" sz="1800" dirty="0"/>
          </a:p>
        </p:txBody>
      </p:sp>
      <p:sp>
        <p:nvSpPr>
          <p:cNvPr id="33" name="Text 25"/>
          <p:cNvSpPr txBox="1"/>
          <p:nvPr/>
        </p:nvSpPr>
        <p:spPr>
          <a:xfrm>
            <a:off x="2788920" y="5623560"/>
            <a:ext cx="2103120" cy="274320"/>
          </a:xfrm>
          <a:prstGeom prst="rect">
            <a:avLst/>
          </a:prstGeom>
          <a:noFill/>
          <a:ln/>
        </p:spPr>
        <p:txBody>
          <a:bodyPr wrap="square" lIns="0" tIns="0" rIns="0" bIns="0" rtlCol="0" anchor="t"/>
          <a:lstStyle/>
          <a:p>
            <a:pPr indent="0" marL="0">
              <a:buNone/>
            </a:pPr>
            <a:r>
              <a:rPr lang="en-US" sz="1400" dirty="0">
                <a:solidFill>
                  <a:schemeClr val="accent4"/>
                </a:solidFill>
              </a:rPr>
              <a:t>2401010453</a:t>
            </a:r>
            <a:endParaRPr lang="en-US" sz="1400" dirty="0"/>
          </a:p>
        </p:txBody>
      </p:sp>
      <p:sp>
        <p:nvSpPr>
          <p:cNvPr id="34" name="Text 26"/>
          <p:cNvSpPr txBox="1"/>
          <p:nvPr/>
        </p:nvSpPr>
        <p:spPr>
          <a:xfrm>
            <a:off x="5029200" y="5257800"/>
            <a:ext cx="2103120" cy="320040"/>
          </a:xfrm>
          <a:prstGeom prst="rect">
            <a:avLst/>
          </a:prstGeom>
          <a:noFill/>
          <a:ln/>
        </p:spPr>
        <p:txBody>
          <a:bodyPr wrap="square" lIns="0" tIns="0" rIns="0" bIns="0" rtlCol="0" anchor="t"/>
          <a:lstStyle/>
          <a:p>
            <a:pPr indent="0" marL="0">
              <a:buNone/>
            </a:pPr>
            <a:r>
              <a:rPr lang="en-US" sz="1800" b="1" dirty="0">
                <a:solidFill>
                  <a:schemeClr val="bg1"/>
                </a:solidFill>
              </a:rPr>
              <a:t>Yash Agarwal</a:t>
            </a:r>
            <a:endParaRPr lang="en-US" sz="1800" dirty="0"/>
          </a:p>
        </p:txBody>
      </p:sp>
      <p:sp>
        <p:nvSpPr>
          <p:cNvPr id="35" name="Text 27"/>
          <p:cNvSpPr txBox="1"/>
          <p:nvPr/>
        </p:nvSpPr>
        <p:spPr>
          <a:xfrm>
            <a:off x="5029200" y="5623560"/>
            <a:ext cx="2103120" cy="274320"/>
          </a:xfrm>
          <a:prstGeom prst="rect">
            <a:avLst/>
          </a:prstGeom>
          <a:noFill/>
          <a:ln/>
        </p:spPr>
        <p:txBody>
          <a:bodyPr wrap="square" lIns="0" tIns="0" rIns="0" bIns="0" rtlCol="0" anchor="t"/>
          <a:lstStyle/>
          <a:p>
            <a:pPr indent="0" marL="0">
              <a:buNone/>
            </a:pPr>
            <a:r>
              <a:rPr lang="en-US" sz="1400" dirty="0">
                <a:solidFill>
                  <a:schemeClr val="accent4"/>
                </a:solidFill>
              </a:rPr>
              <a:t>2401010511</a:t>
            </a:r>
            <a:endParaRPr lang="en-US" sz="1400" dirty="0"/>
          </a:p>
        </p:txBody>
      </p:sp>
      <p:sp>
        <p:nvSpPr>
          <p:cNvPr id="36" name="Text 28"/>
          <p:cNvSpPr txBox="1"/>
          <p:nvPr/>
        </p:nvSpPr>
        <p:spPr>
          <a:xfrm>
            <a:off x="7269480" y="5257800"/>
            <a:ext cx="2103120" cy="320040"/>
          </a:xfrm>
          <a:prstGeom prst="rect">
            <a:avLst/>
          </a:prstGeom>
          <a:noFill/>
          <a:ln/>
        </p:spPr>
        <p:txBody>
          <a:bodyPr wrap="square" lIns="0" tIns="0" rIns="0" bIns="0" rtlCol="0" anchor="t"/>
          <a:lstStyle/>
          <a:p>
            <a:pPr indent="0" marL="0">
              <a:buNone/>
            </a:pPr>
            <a:r>
              <a:rPr lang="en-US" sz="1800" b="1" dirty="0">
                <a:solidFill>
                  <a:schemeClr val="bg1"/>
                </a:solidFill>
              </a:rPr>
              <a:t>Swati Ghosh</a:t>
            </a:r>
            <a:endParaRPr lang="en-US" sz="1800" dirty="0"/>
          </a:p>
        </p:txBody>
      </p:sp>
      <p:sp>
        <p:nvSpPr>
          <p:cNvPr id="37" name="Text 29"/>
          <p:cNvSpPr txBox="1"/>
          <p:nvPr/>
        </p:nvSpPr>
        <p:spPr>
          <a:xfrm>
            <a:off x="7269480" y="5623560"/>
            <a:ext cx="2103120" cy="274320"/>
          </a:xfrm>
          <a:prstGeom prst="rect">
            <a:avLst/>
          </a:prstGeom>
          <a:noFill/>
          <a:ln/>
        </p:spPr>
        <p:txBody>
          <a:bodyPr wrap="square" lIns="0" tIns="0" rIns="0" bIns="0" rtlCol="0" anchor="t"/>
          <a:lstStyle/>
          <a:p>
            <a:pPr indent="0" marL="0">
              <a:buNone/>
            </a:pPr>
            <a:r>
              <a:rPr lang="en-US" sz="1400" dirty="0">
                <a:solidFill>
                  <a:schemeClr val="accent4"/>
                </a:solidFill>
              </a:rPr>
              <a:t>2401010471</a:t>
            </a:r>
            <a:endParaRPr lang="en-US" sz="1400" dirty="0"/>
          </a:p>
        </p:txBody>
      </p:sp>
      <p:sp>
        <p:nvSpPr>
          <p:cNvPr id="38" name="Text 30"/>
          <p:cNvSpPr txBox="1"/>
          <p:nvPr/>
        </p:nvSpPr>
        <p:spPr>
          <a:xfrm>
            <a:off x="9509760" y="5257800"/>
            <a:ext cx="2103120" cy="320040"/>
          </a:xfrm>
          <a:prstGeom prst="rect">
            <a:avLst/>
          </a:prstGeom>
          <a:noFill/>
          <a:ln/>
        </p:spPr>
        <p:txBody>
          <a:bodyPr wrap="square" lIns="0" tIns="0" rIns="0" bIns="0" rtlCol="0" anchor="t"/>
          <a:lstStyle/>
          <a:p>
            <a:pPr indent="0" marL="0">
              <a:buNone/>
            </a:pPr>
            <a:r>
              <a:rPr lang="en-US" sz="1800" b="1" dirty="0">
                <a:solidFill>
                  <a:schemeClr val="bg1"/>
                </a:solidFill>
              </a:rPr>
              <a:t>Anshu Yadav</a:t>
            </a:r>
            <a:endParaRPr lang="en-US" sz="1800" dirty="0"/>
          </a:p>
        </p:txBody>
      </p:sp>
      <p:sp>
        <p:nvSpPr>
          <p:cNvPr id="39" name="Text 31"/>
          <p:cNvSpPr txBox="1"/>
          <p:nvPr/>
        </p:nvSpPr>
        <p:spPr>
          <a:xfrm>
            <a:off x="9509760" y="5623560"/>
            <a:ext cx="2103120" cy="274320"/>
          </a:xfrm>
          <a:prstGeom prst="rect">
            <a:avLst/>
          </a:prstGeom>
          <a:noFill/>
          <a:ln/>
        </p:spPr>
        <p:txBody>
          <a:bodyPr wrap="square" lIns="0" tIns="0" rIns="0" bIns="0" rtlCol="0" anchor="t"/>
          <a:lstStyle/>
          <a:p>
            <a:pPr indent="0" marL="0">
              <a:buNone/>
            </a:pPr>
            <a:r>
              <a:rPr lang="en-US" sz="1400" dirty="0">
                <a:solidFill>
                  <a:schemeClr val="accent4"/>
                </a:solidFill>
              </a:rPr>
              <a:t>2401010081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The recycling trap</a:t>
            </a:r>
            <a:endParaRPr lang="en-US" sz="3400" dirty="0"/>
          </a:p>
        </p:txBody>
      </p:sp>
      <p:sp>
        <p:nvSpPr>
          <p:cNvPr id="3" name="Contamination rejects batches circle"/>
          <p:cNvSpPr/>
          <p:nvPr/>
        </p:nvSpPr>
        <p:spPr>
          <a:xfrm>
            <a:off x="548640" y="1691640"/>
            <a:ext cx="868680" cy="868680"/>
          </a:xfrm>
          <a:prstGeom prst="ellipse">
            <a:avLst/>
          </a:prstGeom>
          <a:solidFill>
            <a:schemeClr val="accent1"/>
          </a:solidFill>
          <a:ln/>
        </p:spPr>
      </p:sp>
      <p:pic>
        <p:nvPicPr>
          <p:cNvPr id="4" name="Image 0" descr="Contamination rejects batches">    </p:cNvPr>
          <p:cNvPicPr>
            <a:picLocks noChangeAspect="1"/>
          </p:cNvPicPr>
          <p:nvPr/>
        </p:nvPicPr>
        <p:blipFill>
          <a:blip r:embed="rId1"/>
          <a:stretch>
            <a:fillRect/>
          </a:stretch>
        </p:blipFill>
        <p:spPr>
          <a:xfrm>
            <a:off x="765810" y="1908810"/>
            <a:ext cx="434340" cy="434340"/>
          </a:xfrm>
          <a:prstGeom prst="rect">
            <a:avLst/>
          </a:prstGeom>
        </p:spPr>
      </p:pic>
      <p:sp>
        <p:nvSpPr>
          <p:cNvPr id="5" name="Text 2"/>
          <p:cNvSpPr txBox="1"/>
          <p:nvPr/>
        </p:nvSpPr>
        <p:spPr>
          <a:xfrm>
            <a:off x="1737360" y="1600200"/>
            <a:ext cx="5577840" cy="365760"/>
          </a:xfrm>
          <a:prstGeom prst="rect">
            <a:avLst/>
          </a:prstGeom>
          <a:noFill/>
          <a:ln/>
        </p:spPr>
        <p:txBody>
          <a:bodyPr wrap="square" lIns="0" tIns="0" rIns="0" bIns="0" rtlCol="0" anchor="t"/>
          <a:lstStyle/>
          <a:p>
            <a:pPr indent="0" marL="0">
              <a:buNone/>
            </a:pPr>
            <a:r>
              <a:rPr lang="en-US" sz="2200" b="1" dirty="0">
                <a:solidFill>
                  <a:schemeClr val="tx1"/>
                </a:solidFill>
              </a:rPr>
              <a:t>Contamination rejects batches</a:t>
            </a:r>
            <a:endParaRPr lang="en-US" sz="2200" dirty="0"/>
          </a:p>
        </p:txBody>
      </p:sp>
      <p:sp>
        <p:nvSpPr>
          <p:cNvPr id="6" name="Text 3"/>
          <p:cNvSpPr txBox="1"/>
          <p:nvPr/>
        </p:nvSpPr>
        <p:spPr>
          <a:xfrm>
            <a:off x="1737360" y="2057400"/>
            <a:ext cx="5577840" cy="868680"/>
          </a:xfrm>
          <a:prstGeom prst="rect">
            <a:avLst/>
          </a:prstGeom>
          <a:noFill/>
          <a:ln/>
        </p:spPr>
        <p:txBody>
          <a:bodyPr wrap="square" lIns="0" tIns="0" rIns="0" bIns="0" rtlCol="0" anchor="t"/>
          <a:lstStyle/>
          <a:p>
            <a:pPr indent="0" marL="0">
              <a:buNone/>
            </a:pPr>
            <a:r>
              <a:rPr lang="en-US" sz="1600" dirty="0">
                <a:solidFill>
                  <a:schemeClr val="tx2"/>
                </a:solidFill>
              </a:rPr>
              <a:t>Single-stream contamination can get an entire municipal pulping or sorting batch rejected.</a:t>
            </a:r>
            <a:endParaRPr lang="en-US" sz="1600" dirty="0"/>
          </a:p>
        </p:txBody>
      </p:sp>
      <p:sp>
        <p:nvSpPr>
          <p:cNvPr id="7" name="Errors are not equal circle"/>
          <p:cNvSpPr/>
          <p:nvPr/>
        </p:nvSpPr>
        <p:spPr>
          <a:xfrm>
            <a:off x="548640" y="3291840"/>
            <a:ext cx="868680" cy="868680"/>
          </a:xfrm>
          <a:prstGeom prst="ellipse">
            <a:avLst/>
          </a:prstGeom>
          <a:solidFill>
            <a:schemeClr val="accent1"/>
          </a:solidFill>
          <a:ln/>
        </p:spPr>
      </p:sp>
      <p:pic>
        <p:nvPicPr>
          <p:cNvPr id="8" name="Image 1" descr="Errors are not equal">    </p:cNvPr>
          <p:cNvPicPr>
            <a:picLocks noChangeAspect="1"/>
          </p:cNvPicPr>
          <p:nvPr/>
        </p:nvPicPr>
        <p:blipFill>
          <a:blip r:embed="rId2"/>
          <a:stretch>
            <a:fillRect/>
          </a:stretch>
        </p:blipFill>
        <p:spPr>
          <a:xfrm>
            <a:off x="765810" y="3509010"/>
            <a:ext cx="434340" cy="434340"/>
          </a:xfrm>
          <a:prstGeom prst="rect">
            <a:avLst/>
          </a:prstGeom>
        </p:spPr>
      </p:pic>
      <p:sp>
        <p:nvSpPr>
          <p:cNvPr id="9" name="Text 5"/>
          <p:cNvSpPr txBox="1"/>
          <p:nvPr/>
        </p:nvSpPr>
        <p:spPr>
          <a:xfrm>
            <a:off x="1737360" y="3200400"/>
            <a:ext cx="5577840" cy="365760"/>
          </a:xfrm>
          <a:prstGeom prst="rect">
            <a:avLst/>
          </a:prstGeom>
          <a:noFill/>
          <a:ln/>
        </p:spPr>
        <p:txBody>
          <a:bodyPr wrap="square" lIns="0" tIns="0" rIns="0" bIns="0" rtlCol="0" anchor="t"/>
          <a:lstStyle/>
          <a:p>
            <a:pPr indent="0" marL="0">
              <a:buNone/>
            </a:pPr>
            <a:r>
              <a:rPr lang="en-US" sz="2200" b="1" dirty="0">
                <a:solidFill>
                  <a:schemeClr val="tx1"/>
                </a:solidFill>
              </a:rPr>
              <a:t>Errors are not equal</a:t>
            </a:r>
            <a:endParaRPr lang="en-US" sz="2200" dirty="0"/>
          </a:p>
        </p:txBody>
      </p:sp>
      <p:sp>
        <p:nvSpPr>
          <p:cNvPr id="10" name="Text 6"/>
          <p:cNvSpPr txBox="1"/>
          <p:nvPr/>
        </p:nvSpPr>
        <p:spPr>
          <a:xfrm>
            <a:off x="1737360" y="3657600"/>
            <a:ext cx="5577840" cy="868680"/>
          </a:xfrm>
          <a:prstGeom prst="rect">
            <a:avLst/>
          </a:prstGeom>
          <a:noFill/>
          <a:ln/>
        </p:spPr>
        <p:txBody>
          <a:bodyPr wrap="square" lIns="0" tIns="0" rIns="0" bIns="0" rtlCol="0" anchor="t"/>
          <a:lstStyle/>
          <a:p>
            <a:pPr indent="0" marL="0">
              <a:buNone/>
            </a:pPr>
            <a:r>
              <a:rPr lang="en-US" sz="1600" dirty="0">
                <a:solidFill>
                  <a:schemeClr val="tx2"/>
                </a:solidFill>
              </a:rPr>
              <a:t>Misclassifying an unidentifiable contaminant is far worse than asking a human to inspect it.</a:t>
            </a:r>
            <a:endParaRPr lang="en-US" sz="1600" dirty="0"/>
          </a:p>
        </p:txBody>
      </p:sp>
      <p:sp>
        <p:nvSpPr>
          <p:cNvPr id="11" name="Seeing is not permission circle"/>
          <p:cNvSpPr/>
          <p:nvPr/>
        </p:nvSpPr>
        <p:spPr>
          <a:xfrm>
            <a:off x="548640" y="4892040"/>
            <a:ext cx="868680" cy="868680"/>
          </a:xfrm>
          <a:prstGeom prst="ellipse">
            <a:avLst/>
          </a:prstGeom>
          <a:solidFill>
            <a:schemeClr val="accent1"/>
          </a:solidFill>
          <a:ln/>
        </p:spPr>
      </p:sp>
      <p:pic>
        <p:nvPicPr>
          <p:cNvPr id="12" name="Image 2" descr="Seeing is not permission">    </p:cNvPr>
          <p:cNvPicPr>
            <a:picLocks noChangeAspect="1"/>
          </p:cNvPicPr>
          <p:nvPr/>
        </p:nvPicPr>
        <p:blipFill>
          <a:blip r:embed="rId3"/>
          <a:stretch>
            <a:fillRect/>
          </a:stretch>
        </p:blipFill>
        <p:spPr>
          <a:xfrm>
            <a:off x="765810" y="5109210"/>
            <a:ext cx="434340" cy="434340"/>
          </a:xfrm>
          <a:prstGeom prst="rect">
            <a:avLst/>
          </a:prstGeom>
        </p:spPr>
      </p:pic>
      <p:sp>
        <p:nvSpPr>
          <p:cNvPr id="13" name="Text 8"/>
          <p:cNvSpPr txBox="1"/>
          <p:nvPr/>
        </p:nvSpPr>
        <p:spPr>
          <a:xfrm>
            <a:off x="1737360" y="4800600"/>
            <a:ext cx="5577840" cy="365760"/>
          </a:xfrm>
          <a:prstGeom prst="rect">
            <a:avLst/>
          </a:prstGeom>
          <a:noFill/>
          <a:ln/>
        </p:spPr>
        <p:txBody>
          <a:bodyPr wrap="square" lIns="0" tIns="0" rIns="0" bIns="0" rtlCol="0" anchor="t"/>
          <a:lstStyle/>
          <a:p>
            <a:pPr indent="0" marL="0">
              <a:buNone/>
            </a:pPr>
            <a:r>
              <a:rPr lang="en-US" sz="2200" b="1" dirty="0">
                <a:solidFill>
                  <a:schemeClr val="tx1"/>
                </a:solidFill>
              </a:rPr>
              <a:t>Seeing is not permission</a:t>
            </a:r>
            <a:endParaRPr lang="en-US" sz="2200" dirty="0"/>
          </a:p>
        </p:txBody>
      </p:sp>
      <p:sp>
        <p:nvSpPr>
          <p:cNvPr id="14" name="Text 9"/>
          <p:cNvSpPr txBox="1"/>
          <p:nvPr/>
        </p:nvSpPr>
        <p:spPr>
          <a:xfrm>
            <a:off x="1737360" y="5257800"/>
            <a:ext cx="5577840" cy="868680"/>
          </a:xfrm>
          <a:prstGeom prst="rect">
            <a:avLst/>
          </a:prstGeom>
          <a:noFill/>
          <a:ln/>
        </p:spPr>
        <p:txBody>
          <a:bodyPr wrap="square" lIns="0" tIns="0" rIns="0" bIns="0" rtlCol="0" anchor="t"/>
          <a:lstStyle/>
          <a:p>
            <a:pPr indent="0" marL="0">
              <a:buNone/>
            </a:pPr>
            <a:r>
              <a:rPr lang="en-US" sz="1600" dirty="0">
                <a:solidFill>
                  <a:schemeClr val="tx2"/>
                </a:solidFill>
              </a:rPr>
              <a:t>Visual identification does not equal disposal permission: organic contamination and local sorting technology set the limits.</a:t>
            </a:r>
            <a:endParaRPr lang="en-US" sz="1600" dirty="0"/>
          </a:p>
        </p:txBody>
      </p:sp>
      <p:sp>
        <p:nvSpPr>
          <p:cNvPr id="15" name="cost asymmetry panel"/>
          <p:cNvSpPr/>
          <p:nvPr/>
        </p:nvSpPr>
        <p:spPr>
          <a:xfrm>
            <a:off x="7772400" y="1600200"/>
            <a:ext cx="3867912" cy="4526280"/>
          </a:xfrm>
          <a:prstGeom prst="roundRect">
            <a:avLst>
              <a:gd name="adj" fmla="val 3546"/>
            </a:avLst>
          </a:prstGeom>
          <a:solidFill>
            <a:schemeClr val="tx1"/>
          </a:solidFill>
          <a:ln/>
        </p:spPr>
      </p:sp>
      <p:sp>
        <p:nvSpPr>
          <p:cNvPr id="16" name="recycle icon circle"/>
          <p:cNvSpPr/>
          <p:nvPr/>
        </p:nvSpPr>
        <p:spPr>
          <a:xfrm>
            <a:off x="8138160" y="1965960"/>
            <a:ext cx="822960" cy="822960"/>
          </a:xfrm>
          <a:prstGeom prst="ellipse">
            <a:avLst/>
          </a:prstGeom>
          <a:solidFill>
            <a:schemeClr val="accent6"/>
          </a:solidFill>
          <a:ln/>
        </p:spPr>
      </p:sp>
      <p:pic>
        <p:nvPicPr>
          <p:cNvPr id="17" name="Image 3" descr="recycle icon">    </p:cNvPr>
          <p:cNvPicPr>
            <a:picLocks noChangeAspect="1"/>
          </p:cNvPicPr>
          <p:nvPr/>
        </p:nvPicPr>
        <p:blipFill>
          <a:blip r:embed="rId4"/>
          <a:stretch>
            <a:fillRect/>
          </a:stretch>
        </p:blipFill>
        <p:spPr>
          <a:xfrm>
            <a:off x="8343900" y="2171700"/>
            <a:ext cx="411480" cy="411480"/>
          </a:xfrm>
          <a:prstGeom prst="rect">
            <a:avLst/>
          </a:prstGeom>
        </p:spPr>
      </p:pic>
      <p:sp>
        <p:nvSpPr>
          <p:cNvPr id="18" name="Text 12"/>
          <p:cNvSpPr txBox="1"/>
          <p:nvPr/>
        </p:nvSpPr>
        <p:spPr>
          <a:xfrm>
            <a:off x="8138160" y="3017520"/>
            <a:ext cx="3154680" cy="201168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A wrong call costs a batch.</a:t>
            </a:r>
            <a:endParaRPr lang="en-US" sz="2800" dirty="0"/>
          </a:p>
          <a:p>
            <a:pPr indent="0" marL="0">
              <a:buNone/>
            </a:pPr>
            <a:r>
              <a:rPr lang="en-US" sz="2800" b="1" dirty="0">
                <a:solidFill>
                  <a:schemeClr val="accent2"/>
                </a:solidFill>
                <a:latin typeface="Cambria" pitchFamily="34" charset="0"/>
                <a:ea typeface="Cambria" pitchFamily="34" charset="-122"/>
                <a:cs typeface="Cambria" pitchFamily="34" charset="-120"/>
              </a:rPr>
              <a:t>An abstention costs a glance.</a:t>
            </a:r>
            <a:endParaRPr lang="en-US" sz="2800" dirty="0"/>
          </a:p>
        </p:txBody>
      </p:sp>
      <p:sp>
        <p:nvSpPr>
          <p:cNvPr id="19" name="Text 13"/>
          <p:cNvSpPr txBox="1"/>
          <p:nvPr/>
        </p:nvSpPr>
        <p:spPr>
          <a:xfrm>
            <a:off x="8138160" y="5303520"/>
            <a:ext cx="3154680" cy="548640"/>
          </a:xfrm>
          <a:prstGeom prst="rect">
            <a:avLst/>
          </a:prstGeom>
          <a:noFill/>
          <a:ln/>
        </p:spPr>
        <p:txBody>
          <a:bodyPr wrap="square" lIns="0" tIns="0" rIns="0" bIns="0" rtlCol="0" anchor="t"/>
          <a:lstStyle/>
          <a:p>
            <a:pPr indent="0" marL="0">
              <a:buNone/>
            </a:pPr>
            <a:r>
              <a:rPr lang="en-US" sz="1400" dirty="0">
                <a:solidFill>
                  <a:schemeClr val="accent6"/>
                </a:solidFill>
              </a:rPr>
              <a:t>The cost asymmetry that shapes the whole design</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Dataset: TrashNet and its class imbalance</a:t>
            </a:r>
            <a:endParaRPr lang="en-US" sz="3400" dirty="0"/>
          </a:p>
        </p:txBody>
      </p:sp>
      <p:graphicFrame>
        <p:nvGraphicFramePr>
          <p:cNvPr id="3" name="Chart 0" descr=""/>
          <p:cNvGraphicFramePr/>
          <p:nvPr/>
        </p:nvGraphicFramePr>
        <p:xfrm>
          <a:off x="548640" y="1463040"/>
          <a:ext cx="6675120" cy="4663440"/>
        </p:xfrm>
        <a:graphic xmlns:a="http://schemas.openxmlformats.org/drawingml/2006/main">
          <a:graphicData uri="http://schemas.openxmlformats.org/drawingml/2006/chart">
            <c:chart xmlns:c="http://schemas.openxmlformats.org/drawingml/2006/chart" r:id="rId1"/>
          </a:graphicData>
        </a:graphic>
      </p:graphicFrame>
      <p:sp>
        <p:nvSpPr>
          <p:cNvPr id="4" name="stat tile 2,527"/>
          <p:cNvSpPr/>
          <p:nvPr/>
        </p:nvSpPr>
        <p:spPr>
          <a:xfrm>
            <a:off x="7589520" y="1463040"/>
            <a:ext cx="4050792" cy="1097280"/>
          </a:xfrm>
          <a:prstGeom prst="roundRect">
            <a:avLst>
              <a:gd name="adj" fmla="val 12500"/>
            </a:avLst>
          </a:prstGeom>
          <a:solidFill>
            <a:schemeClr val="bg2"/>
          </a:solidFill>
          <a:ln/>
        </p:spPr>
      </p:sp>
      <p:sp>
        <p:nvSpPr>
          <p:cNvPr id="5" name="Text 2"/>
          <p:cNvSpPr txBox="1"/>
          <p:nvPr/>
        </p:nvSpPr>
        <p:spPr>
          <a:xfrm>
            <a:off x="7818120" y="1463040"/>
            <a:ext cx="1691640" cy="109728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2,527</a:t>
            </a:r>
            <a:endParaRPr lang="en-US" sz="3600" dirty="0"/>
          </a:p>
        </p:txBody>
      </p:sp>
      <p:sp>
        <p:nvSpPr>
          <p:cNvPr id="6" name="Text 3"/>
          <p:cNvSpPr txBox="1"/>
          <p:nvPr/>
        </p:nvSpPr>
        <p:spPr>
          <a:xfrm>
            <a:off x="9555480" y="1463040"/>
            <a:ext cx="1965960" cy="1097280"/>
          </a:xfrm>
          <a:prstGeom prst="rect">
            <a:avLst/>
          </a:prstGeom>
          <a:noFill/>
          <a:ln/>
        </p:spPr>
        <p:txBody>
          <a:bodyPr wrap="square" lIns="0" tIns="0" rIns="0" bIns="0" rtlCol="0" anchor="ctr"/>
          <a:lstStyle/>
          <a:p>
            <a:pPr indent="0" marL="0">
              <a:buNone/>
            </a:pPr>
            <a:r>
              <a:rPr lang="en-US" sz="1400" dirty="0">
                <a:solidFill>
                  <a:schemeClr val="tx1"/>
                </a:solidFill>
              </a:rPr>
              <a:t>images, TrashNet (Stanford CS229 benchmark)</a:t>
            </a:r>
            <a:endParaRPr lang="en-US" sz="1400" dirty="0"/>
          </a:p>
        </p:txBody>
      </p:sp>
      <p:sp>
        <p:nvSpPr>
          <p:cNvPr id="7" name="stat tile 6"/>
          <p:cNvSpPr/>
          <p:nvPr/>
        </p:nvSpPr>
        <p:spPr>
          <a:xfrm>
            <a:off x="7589520" y="2743200"/>
            <a:ext cx="4050792" cy="1097280"/>
          </a:xfrm>
          <a:prstGeom prst="roundRect">
            <a:avLst>
              <a:gd name="adj" fmla="val 12500"/>
            </a:avLst>
          </a:prstGeom>
          <a:solidFill>
            <a:schemeClr val="bg2"/>
          </a:solidFill>
          <a:ln/>
        </p:spPr>
      </p:sp>
      <p:sp>
        <p:nvSpPr>
          <p:cNvPr id="8" name="Text 5"/>
          <p:cNvSpPr txBox="1"/>
          <p:nvPr/>
        </p:nvSpPr>
        <p:spPr>
          <a:xfrm>
            <a:off x="7818120" y="2743200"/>
            <a:ext cx="1691640" cy="109728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6</a:t>
            </a:r>
            <a:endParaRPr lang="en-US" sz="3600" dirty="0"/>
          </a:p>
        </p:txBody>
      </p:sp>
      <p:sp>
        <p:nvSpPr>
          <p:cNvPr id="9" name="Text 6"/>
          <p:cNvSpPr txBox="1"/>
          <p:nvPr/>
        </p:nvSpPr>
        <p:spPr>
          <a:xfrm>
            <a:off x="9555480" y="2743200"/>
            <a:ext cx="1965960" cy="1097280"/>
          </a:xfrm>
          <a:prstGeom prst="rect">
            <a:avLst/>
          </a:prstGeom>
          <a:noFill/>
          <a:ln/>
        </p:spPr>
        <p:txBody>
          <a:bodyPr wrap="square" lIns="0" tIns="0" rIns="0" bIns="0" rtlCol="0" anchor="ctr"/>
          <a:lstStyle/>
          <a:p>
            <a:pPr indent="0" marL="0">
              <a:buNone/>
            </a:pPr>
            <a:r>
              <a:rPr lang="en-US" sz="1400" dirty="0">
                <a:solidFill>
                  <a:schemeClr val="tx1"/>
                </a:solidFill>
              </a:rPr>
              <a:t>classes: cardboard, glass, metal, paper, plastic, trash</a:t>
            </a:r>
            <a:endParaRPr lang="en-US" sz="1400" dirty="0"/>
          </a:p>
        </p:txBody>
      </p:sp>
      <p:sp>
        <p:nvSpPr>
          <p:cNvPr id="10" name="stat tile 4.3 : 1"/>
          <p:cNvSpPr/>
          <p:nvPr/>
        </p:nvSpPr>
        <p:spPr>
          <a:xfrm>
            <a:off x="7589520" y="4023360"/>
            <a:ext cx="4050792" cy="1097280"/>
          </a:xfrm>
          <a:prstGeom prst="roundRect">
            <a:avLst>
              <a:gd name="adj" fmla="val 12500"/>
            </a:avLst>
          </a:prstGeom>
          <a:solidFill>
            <a:schemeClr val="bg2"/>
          </a:solidFill>
          <a:ln/>
        </p:spPr>
      </p:sp>
      <p:sp>
        <p:nvSpPr>
          <p:cNvPr id="11" name="Text 8"/>
          <p:cNvSpPr txBox="1"/>
          <p:nvPr/>
        </p:nvSpPr>
        <p:spPr>
          <a:xfrm>
            <a:off x="7818120" y="4023360"/>
            <a:ext cx="1691640" cy="109728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4.3 : 1</a:t>
            </a:r>
            <a:endParaRPr lang="en-US" sz="3600" dirty="0"/>
          </a:p>
        </p:txBody>
      </p:sp>
      <p:sp>
        <p:nvSpPr>
          <p:cNvPr id="12" name="Text 9"/>
          <p:cNvSpPr txBox="1"/>
          <p:nvPr/>
        </p:nvSpPr>
        <p:spPr>
          <a:xfrm>
            <a:off x="9555480" y="4023360"/>
            <a:ext cx="1965960" cy="1097280"/>
          </a:xfrm>
          <a:prstGeom prst="rect">
            <a:avLst/>
          </a:prstGeom>
          <a:noFill/>
          <a:ln/>
        </p:spPr>
        <p:txBody>
          <a:bodyPr wrap="square" lIns="0" tIns="0" rIns="0" bIns="0" rtlCol="0" anchor="ctr"/>
          <a:lstStyle/>
          <a:p>
            <a:pPr indent="0" marL="0">
              <a:buNone/>
            </a:pPr>
            <a:r>
              <a:rPr lang="en-US" sz="1400" dirty="0">
                <a:solidFill>
                  <a:schemeClr val="tx1"/>
                </a:solidFill>
              </a:rPr>
              <a:t>imbalance: paper 594 vs. trash 137</a:t>
            </a:r>
            <a:endParaRPr lang="en-US" sz="1400" dirty="0"/>
          </a:p>
        </p:txBody>
      </p:sp>
      <p:sp>
        <p:nvSpPr>
          <p:cNvPr id="13" name="method panel"/>
          <p:cNvSpPr/>
          <p:nvPr/>
        </p:nvSpPr>
        <p:spPr>
          <a:xfrm>
            <a:off x="7589520" y="5303520"/>
            <a:ext cx="4050792" cy="868680"/>
          </a:xfrm>
          <a:prstGeom prst="roundRect">
            <a:avLst>
              <a:gd name="adj" fmla="val 15789"/>
            </a:avLst>
          </a:prstGeom>
          <a:solidFill>
            <a:schemeClr val="tx1"/>
          </a:solidFill>
          <a:ln/>
        </p:spPr>
      </p:sp>
      <p:sp>
        <p:nvSpPr>
          <p:cNvPr id="14" name="Text 11"/>
          <p:cNvSpPr txBox="1"/>
          <p:nvPr/>
        </p:nvSpPr>
        <p:spPr>
          <a:xfrm>
            <a:off x="7818120" y="5303520"/>
            <a:ext cx="3611880" cy="868680"/>
          </a:xfrm>
          <a:prstGeom prst="rect">
            <a:avLst/>
          </a:prstGeom>
          <a:noFill/>
          <a:ln/>
        </p:spPr>
        <p:txBody>
          <a:bodyPr wrap="square" lIns="0" tIns="0" rIns="0" bIns="0" rtlCol="0" anchor="ctr"/>
          <a:lstStyle/>
          <a:p>
            <a:pPr indent="0" marL="0">
              <a:buNone/>
            </a:pPr>
            <a:r>
              <a:rPr lang="en-US" sz="1400" dirty="0">
                <a:solidFill>
                  <a:schemeClr val="bg1"/>
                </a:solidFill>
              </a:rPr>
              <a:t>Stratified 70/15/15 split  ·  inverse-frequency loss weights  ·  dHash deduplication against leakage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Classical pipeline: hand-crafted descriptors</a:t>
            </a:r>
            <a:endParaRPr lang="en-US" sz="3400" dirty="0"/>
          </a:p>
        </p:txBody>
      </p:sp>
      <p:graphicFrame>
        <p:nvGraphicFramePr>
          <p:cNvPr id="3" name="Chart 0" descr=""/>
          <p:cNvGraphicFramePr/>
          <p:nvPr/>
        </p:nvGraphicFramePr>
        <p:xfrm>
          <a:off x="548640" y="1463040"/>
          <a:ext cx="4572000" cy="4572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1920240" y="3429000"/>
            <a:ext cx="1828800" cy="640080"/>
          </a:xfrm>
          <a:prstGeom prst="rect">
            <a:avLst/>
          </a:prstGeom>
          <a:noFill/>
          <a:ln/>
        </p:spPr>
        <p:txBody>
          <a:bodyPr wrap="square" lIns="0" tIns="0" rIns="0" bIns="0" rtlCol="0" anchor="t"/>
          <a:lstStyle/>
          <a:p>
            <a:pPr algn="ctr" indent="0" marL="0">
              <a:buNone/>
            </a:pPr>
            <a:r>
              <a:rPr lang="en-US" sz="4000" b="1" dirty="0">
                <a:solidFill>
                  <a:schemeClr val="tx1"/>
                </a:solidFill>
                <a:latin typeface="Cambria" pitchFamily="34" charset="0"/>
                <a:ea typeface="Cambria" pitchFamily="34" charset="-122"/>
                <a:cs typeface="Cambria" pitchFamily="34" charset="-120"/>
              </a:rPr>
              <a:t>1,634</a:t>
            </a:r>
            <a:endParaRPr lang="en-US" sz="4000" dirty="0"/>
          </a:p>
        </p:txBody>
      </p:sp>
      <p:sp>
        <p:nvSpPr>
          <p:cNvPr id="5" name="Text 2"/>
          <p:cNvSpPr txBox="1"/>
          <p:nvPr/>
        </p:nvSpPr>
        <p:spPr>
          <a:xfrm>
            <a:off x="1920240" y="4069080"/>
            <a:ext cx="1828800" cy="320040"/>
          </a:xfrm>
          <a:prstGeom prst="rect">
            <a:avLst/>
          </a:prstGeom>
          <a:noFill/>
          <a:ln/>
        </p:spPr>
        <p:txBody>
          <a:bodyPr wrap="square" lIns="0" tIns="0" rIns="0" bIns="0" rtlCol="0" anchor="t"/>
          <a:lstStyle/>
          <a:p>
            <a:pPr algn="ctr" indent="0" marL="0">
              <a:buNone/>
            </a:pPr>
            <a:r>
              <a:rPr lang="en-US" sz="1400" dirty="0">
                <a:solidFill>
                  <a:schemeClr val="tx2"/>
                </a:solidFill>
              </a:rPr>
              <a:t>dimensions</a:t>
            </a:r>
            <a:endParaRPr lang="en-US" sz="1400" dirty="0"/>
          </a:p>
        </p:txBody>
      </p:sp>
      <p:sp>
        <p:nvSpPr>
          <p:cNvPr id="6" name="descriptor HSV color histograms · 48D"/>
          <p:cNvSpPr/>
          <p:nvPr/>
        </p:nvSpPr>
        <p:spPr>
          <a:xfrm>
            <a:off x="5669280" y="1463040"/>
            <a:ext cx="5971032" cy="1188720"/>
          </a:xfrm>
          <a:prstGeom prst="roundRect">
            <a:avLst>
              <a:gd name="adj" fmla="val 11538"/>
            </a:avLst>
          </a:prstGeom>
          <a:solidFill>
            <a:schemeClr val="bg2"/>
          </a:solidFill>
          <a:ln/>
        </p:spPr>
      </p:sp>
      <p:sp>
        <p:nvSpPr>
          <p:cNvPr id="7" name="HSV color histograms · 48D circle"/>
          <p:cNvSpPr/>
          <p:nvPr/>
        </p:nvSpPr>
        <p:spPr>
          <a:xfrm>
            <a:off x="5897880" y="1737360"/>
            <a:ext cx="640080" cy="640080"/>
          </a:xfrm>
          <a:prstGeom prst="ellipse">
            <a:avLst/>
          </a:prstGeom>
          <a:solidFill>
            <a:srgbClr val="F2A33A"/>
          </a:solidFill>
          <a:ln/>
        </p:spPr>
      </p:sp>
      <p:pic>
        <p:nvPicPr>
          <p:cNvPr id="8" name="Image 0" descr="HSV color histograms · 48D">    </p:cNvPr>
          <p:cNvPicPr>
            <a:picLocks noChangeAspect="1"/>
          </p:cNvPicPr>
          <p:nvPr/>
        </p:nvPicPr>
        <p:blipFill>
          <a:blip r:embed="rId2"/>
          <a:stretch>
            <a:fillRect/>
          </a:stretch>
        </p:blipFill>
        <p:spPr>
          <a:xfrm>
            <a:off x="6057900" y="1897380"/>
            <a:ext cx="320040" cy="320040"/>
          </a:xfrm>
          <a:prstGeom prst="rect">
            <a:avLst/>
          </a:prstGeom>
        </p:spPr>
      </p:pic>
      <p:sp>
        <p:nvSpPr>
          <p:cNvPr id="9" name="Text 5"/>
          <p:cNvSpPr txBox="1"/>
          <p:nvPr/>
        </p:nvSpPr>
        <p:spPr>
          <a:xfrm>
            <a:off x="6766560" y="1664208"/>
            <a:ext cx="4663440" cy="365760"/>
          </a:xfrm>
          <a:prstGeom prst="rect">
            <a:avLst/>
          </a:prstGeom>
          <a:noFill/>
          <a:ln/>
        </p:spPr>
        <p:txBody>
          <a:bodyPr wrap="square" lIns="0" tIns="0" rIns="0" bIns="0" rtlCol="0" anchor="t"/>
          <a:lstStyle/>
          <a:p>
            <a:pPr indent="0" marL="0">
              <a:buNone/>
            </a:pPr>
            <a:r>
              <a:rPr lang="en-US" sz="1800" b="1" dirty="0">
                <a:solidFill>
                  <a:schemeClr val="tx1"/>
                </a:solidFill>
              </a:rPr>
              <a:t>HSV color histograms · 48D</a:t>
            </a:r>
            <a:endParaRPr lang="en-US" sz="1800" dirty="0"/>
          </a:p>
        </p:txBody>
      </p:sp>
      <p:sp>
        <p:nvSpPr>
          <p:cNvPr id="10" name="Text 6"/>
          <p:cNvSpPr txBox="1"/>
          <p:nvPr/>
        </p:nvSpPr>
        <p:spPr>
          <a:xfrm>
            <a:off x="6766560" y="2075688"/>
            <a:ext cx="4663440" cy="457200"/>
          </a:xfrm>
          <a:prstGeom prst="rect">
            <a:avLst/>
          </a:prstGeom>
          <a:noFill/>
          <a:ln/>
        </p:spPr>
        <p:txBody>
          <a:bodyPr wrap="square" lIns="0" tIns="0" rIns="0" bIns="0" rtlCol="0" anchor="t"/>
          <a:lstStyle/>
          <a:p>
            <a:pPr indent="0" marL="0">
              <a:buNone/>
            </a:pPr>
            <a:r>
              <a:rPr lang="en-US" sz="1400" dirty="0">
                <a:solidFill>
                  <a:schemeClr val="tx2"/>
                </a:solidFill>
              </a:rPr>
              <a:t>Chromaticity that stays stable when lighting brightness changes.</a:t>
            </a:r>
            <a:endParaRPr lang="en-US" sz="1400" dirty="0"/>
          </a:p>
        </p:txBody>
      </p:sp>
      <p:sp>
        <p:nvSpPr>
          <p:cNvPr id="11" name="descriptor HOG · 1,568D"/>
          <p:cNvSpPr/>
          <p:nvPr/>
        </p:nvSpPr>
        <p:spPr>
          <a:xfrm>
            <a:off x="5669280" y="2834640"/>
            <a:ext cx="5971032" cy="1188720"/>
          </a:xfrm>
          <a:prstGeom prst="roundRect">
            <a:avLst>
              <a:gd name="adj" fmla="val 11538"/>
            </a:avLst>
          </a:prstGeom>
          <a:solidFill>
            <a:schemeClr val="bg2"/>
          </a:solidFill>
          <a:ln/>
        </p:spPr>
      </p:sp>
      <p:sp>
        <p:nvSpPr>
          <p:cNvPr id="12" name="HOG · 1,568D circle"/>
          <p:cNvSpPr/>
          <p:nvPr/>
        </p:nvSpPr>
        <p:spPr>
          <a:xfrm>
            <a:off x="5897880" y="3108960"/>
            <a:ext cx="640080" cy="640080"/>
          </a:xfrm>
          <a:prstGeom prst="ellipse">
            <a:avLst/>
          </a:prstGeom>
          <a:solidFill>
            <a:srgbClr val="17493D"/>
          </a:solidFill>
          <a:ln/>
        </p:spPr>
      </p:sp>
      <p:pic>
        <p:nvPicPr>
          <p:cNvPr id="13" name="Image 1" descr="HOG · 1,568D">    </p:cNvPr>
          <p:cNvPicPr>
            <a:picLocks noChangeAspect="1"/>
          </p:cNvPicPr>
          <p:nvPr/>
        </p:nvPicPr>
        <p:blipFill>
          <a:blip r:embed="rId3"/>
          <a:stretch>
            <a:fillRect/>
          </a:stretch>
        </p:blipFill>
        <p:spPr>
          <a:xfrm>
            <a:off x="6057900" y="3268980"/>
            <a:ext cx="320040" cy="320040"/>
          </a:xfrm>
          <a:prstGeom prst="rect">
            <a:avLst/>
          </a:prstGeom>
        </p:spPr>
      </p:pic>
      <p:sp>
        <p:nvSpPr>
          <p:cNvPr id="14" name="Text 9"/>
          <p:cNvSpPr txBox="1"/>
          <p:nvPr/>
        </p:nvSpPr>
        <p:spPr>
          <a:xfrm>
            <a:off x="6766560" y="3035808"/>
            <a:ext cx="4663440" cy="365760"/>
          </a:xfrm>
          <a:prstGeom prst="rect">
            <a:avLst/>
          </a:prstGeom>
          <a:noFill/>
          <a:ln/>
        </p:spPr>
        <p:txBody>
          <a:bodyPr wrap="square" lIns="0" tIns="0" rIns="0" bIns="0" rtlCol="0" anchor="t"/>
          <a:lstStyle/>
          <a:p>
            <a:pPr indent="0" marL="0">
              <a:buNone/>
            </a:pPr>
            <a:r>
              <a:rPr lang="en-US" sz="1800" b="1" dirty="0">
                <a:solidFill>
                  <a:schemeClr val="tx1"/>
                </a:solidFill>
              </a:rPr>
              <a:t>HOG · 1,568D</a:t>
            </a:r>
            <a:endParaRPr lang="en-US" sz="1800" dirty="0"/>
          </a:p>
        </p:txBody>
      </p:sp>
      <p:sp>
        <p:nvSpPr>
          <p:cNvPr id="15" name="Text 10"/>
          <p:cNvSpPr txBox="1"/>
          <p:nvPr/>
        </p:nvSpPr>
        <p:spPr>
          <a:xfrm>
            <a:off x="6766560" y="3447288"/>
            <a:ext cx="4663440" cy="457200"/>
          </a:xfrm>
          <a:prstGeom prst="rect">
            <a:avLst/>
          </a:prstGeom>
          <a:noFill/>
          <a:ln/>
        </p:spPr>
        <p:txBody>
          <a:bodyPr wrap="square" lIns="0" tIns="0" rIns="0" bIns="0" rtlCol="0" anchor="t"/>
          <a:lstStyle/>
          <a:p>
            <a:pPr indent="0" marL="0">
              <a:buNone/>
            </a:pPr>
            <a:r>
              <a:rPr lang="en-US" sz="1400" dirty="0">
                <a:solidFill>
                  <a:schemeClr val="tx2"/>
                </a:solidFill>
              </a:rPr>
              <a:t>Structural edges and silhouette geometry.</a:t>
            </a:r>
            <a:endParaRPr lang="en-US" sz="1400" dirty="0"/>
          </a:p>
        </p:txBody>
      </p:sp>
      <p:sp>
        <p:nvSpPr>
          <p:cNvPr id="16" name="descriptor LBP · 18D"/>
          <p:cNvSpPr/>
          <p:nvPr/>
        </p:nvSpPr>
        <p:spPr>
          <a:xfrm>
            <a:off x="5669280" y="4206240"/>
            <a:ext cx="5971032" cy="1188720"/>
          </a:xfrm>
          <a:prstGeom prst="roundRect">
            <a:avLst>
              <a:gd name="adj" fmla="val 11538"/>
            </a:avLst>
          </a:prstGeom>
          <a:solidFill>
            <a:schemeClr val="bg2"/>
          </a:solidFill>
          <a:ln/>
        </p:spPr>
      </p:sp>
      <p:sp>
        <p:nvSpPr>
          <p:cNvPr id="17" name="LBP · 18D circle"/>
          <p:cNvSpPr/>
          <p:nvPr/>
        </p:nvSpPr>
        <p:spPr>
          <a:xfrm>
            <a:off x="5897880" y="4480560"/>
            <a:ext cx="640080" cy="640080"/>
          </a:xfrm>
          <a:prstGeom prst="ellipse">
            <a:avLst/>
          </a:prstGeom>
          <a:solidFill>
            <a:srgbClr val="1F8A60"/>
          </a:solidFill>
          <a:ln/>
        </p:spPr>
      </p:sp>
      <p:pic>
        <p:nvPicPr>
          <p:cNvPr id="18" name="Image 2" descr="LBP · 18D">    </p:cNvPr>
          <p:cNvPicPr>
            <a:picLocks noChangeAspect="1"/>
          </p:cNvPicPr>
          <p:nvPr/>
        </p:nvPicPr>
        <p:blipFill>
          <a:blip r:embed="rId4"/>
          <a:stretch>
            <a:fillRect/>
          </a:stretch>
        </p:blipFill>
        <p:spPr>
          <a:xfrm>
            <a:off x="6057900" y="4640580"/>
            <a:ext cx="320040" cy="320040"/>
          </a:xfrm>
          <a:prstGeom prst="rect">
            <a:avLst/>
          </a:prstGeom>
        </p:spPr>
      </p:pic>
      <p:sp>
        <p:nvSpPr>
          <p:cNvPr id="19" name="Text 13"/>
          <p:cNvSpPr txBox="1"/>
          <p:nvPr/>
        </p:nvSpPr>
        <p:spPr>
          <a:xfrm>
            <a:off x="6766560" y="4407408"/>
            <a:ext cx="4663440" cy="365760"/>
          </a:xfrm>
          <a:prstGeom prst="rect">
            <a:avLst/>
          </a:prstGeom>
          <a:noFill/>
          <a:ln/>
        </p:spPr>
        <p:txBody>
          <a:bodyPr wrap="square" lIns="0" tIns="0" rIns="0" bIns="0" rtlCol="0" anchor="t"/>
          <a:lstStyle/>
          <a:p>
            <a:pPr indent="0" marL="0">
              <a:buNone/>
            </a:pPr>
            <a:r>
              <a:rPr lang="en-US" sz="1800" b="1" dirty="0">
                <a:solidFill>
                  <a:schemeClr val="tx1"/>
                </a:solidFill>
              </a:rPr>
              <a:t>LBP · 18D</a:t>
            </a:r>
            <a:endParaRPr lang="en-US" sz="1800" dirty="0"/>
          </a:p>
        </p:txBody>
      </p:sp>
      <p:sp>
        <p:nvSpPr>
          <p:cNvPr id="20" name="Text 14"/>
          <p:cNvSpPr txBox="1"/>
          <p:nvPr/>
        </p:nvSpPr>
        <p:spPr>
          <a:xfrm>
            <a:off x="6766560" y="4818888"/>
            <a:ext cx="4663440" cy="457200"/>
          </a:xfrm>
          <a:prstGeom prst="rect">
            <a:avLst/>
          </a:prstGeom>
          <a:noFill/>
          <a:ln/>
        </p:spPr>
        <p:txBody>
          <a:bodyPr wrap="square" lIns="0" tIns="0" rIns="0" bIns="0" rtlCol="0" anchor="t"/>
          <a:lstStyle/>
          <a:p>
            <a:pPr indent="0" marL="0">
              <a:buNone/>
            </a:pPr>
            <a:r>
              <a:rPr lang="en-US" sz="1400" dirty="0">
                <a:solidFill>
                  <a:schemeClr val="tx2"/>
                </a:solidFill>
              </a:rPr>
              <a:t>Uniform patterns that capture surface roughness.</a:t>
            </a:r>
            <a:endParaRPr lang="en-US" sz="1400" dirty="0"/>
          </a:p>
        </p:txBody>
      </p:sp>
      <p:sp>
        <p:nvSpPr>
          <p:cNvPr id="21" name="classifier strip"/>
          <p:cNvSpPr/>
          <p:nvPr/>
        </p:nvSpPr>
        <p:spPr>
          <a:xfrm>
            <a:off x="5669280" y="5577840"/>
            <a:ext cx="5971032" cy="640080"/>
          </a:xfrm>
          <a:prstGeom prst="roundRect">
            <a:avLst>
              <a:gd name="adj" fmla="val 21429"/>
            </a:avLst>
          </a:prstGeom>
          <a:solidFill>
            <a:schemeClr val="tx1"/>
          </a:solidFill>
          <a:ln/>
        </p:spPr>
      </p:sp>
      <p:sp>
        <p:nvSpPr>
          <p:cNvPr id="22" name="Text 16"/>
          <p:cNvSpPr txBox="1"/>
          <p:nvPr/>
        </p:nvSpPr>
        <p:spPr>
          <a:xfrm>
            <a:off x="5897880" y="5577840"/>
            <a:ext cx="5577840" cy="640080"/>
          </a:xfrm>
          <a:prstGeom prst="rect">
            <a:avLst/>
          </a:prstGeom>
          <a:noFill/>
          <a:ln/>
        </p:spPr>
        <p:txBody>
          <a:bodyPr wrap="square" lIns="0" tIns="0" rIns="0" bIns="0" rtlCol="0" anchor="ctr"/>
          <a:lstStyle/>
          <a:p>
            <a:pPr indent="0" marL="0">
              <a:buNone/>
            </a:pPr>
            <a:r>
              <a:rPr lang="en-US" sz="1400" b="1" dirty="0">
                <a:solidFill>
                  <a:schemeClr val="bg1"/>
                </a:solidFill>
              </a:rPr>
              <a:t>Classifiers: SVM (RBF kernel, Platt scaling)  ·  Balanced Random Forest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Deep transfer learning with MobileNetV2</a:t>
            </a:r>
            <a:endParaRPr lang="en-US" sz="3400" dirty="0"/>
          </a:p>
        </p:txBody>
      </p:sp>
      <p:sp>
        <p:nvSpPr>
          <p:cNvPr id="3" name="stat parameters"/>
          <p:cNvSpPr/>
          <p:nvPr/>
        </p:nvSpPr>
        <p:spPr>
          <a:xfrm>
            <a:off x="548640" y="1463040"/>
            <a:ext cx="3291840" cy="1417320"/>
          </a:xfrm>
          <a:prstGeom prst="roundRect">
            <a:avLst>
              <a:gd name="adj" fmla="val 9677"/>
            </a:avLst>
          </a:prstGeom>
          <a:solidFill>
            <a:schemeClr val="tx1"/>
          </a:solidFill>
          <a:ln/>
        </p:spPr>
      </p:sp>
      <p:sp>
        <p:nvSpPr>
          <p:cNvPr id="4" name="Text 2"/>
          <p:cNvSpPr txBox="1"/>
          <p:nvPr/>
        </p:nvSpPr>
        <p:spPr>
          <a:xfrm>
            <a:off x="777240" y="1645920"/>
            <a:ext cx="2834640" cy="731520"/>
          </a:xfrm>
          <a:prstGeom prst="rect">
            <a:avLst/>
          </a:prstGeom>
          <a:noFill/>
          <a:ln/>
        </p:spPr>
        <p:txBody>
          <a:bodyPr wrap="square" lIns="0" tIns="0" rIns="0" bIns="0" rtlCol="0" anchor="t"/>
          <a:lstStyle/>
          <a:p>
            <a:pPr indent="0" marL="0">
              <a:buNone/>
            </a:pPr>
            <a:r>
              <a:rPr lang="en-US" sz="4400" b="1" dirty="0">
                <a:solidFill>
                  <a:schemeClr val="accent6"/>
                </a:solidFill>
                <a:latin typeface="Cambria" pitchFamily="34" charset="0"/>
                <a:ea typeface="Cambria" pitchFamily="34" charset="-122"/>
                <a:cs typeface="Cambria" pitchFamily="34" charset="-120"/>
              </a:rPr>
              <a:t>3.5M</a:t>
            </a:r>
            <a:endParaRPr lang="en-US" sz="4400" dirty="0"/>
          </a:p>
        </p:txBody>
      </p:sp>
      <p:sp>
        <p:nvSpPr>
          <p:cNvPr id="5" name="Text 3"/>
          <p:cNvSpPr txBox="1"/>
          <p:nvPr/>
        </p:nvSpPr>
        <p:spPr>
          <a:xfrm>
            <a:off x="777240" y="2377440"/>
            <a:ext cx="2834640" cy="320040"/>
          </a:xfrm>
          <a:prstGeom prst="rect">
            <a:avLst/>
          </a:prstGeom>
          <a:noFill/>
          <a:ln/>
        </p:spPr>
        <p:txBody>
          <a:bodyPr wrap="square" lIns="0" tIns="0" rIns="0" bIns="0" rtlCol="0" anchor="t"/>
          <a:lstStyle/>
          <a:p>
            <a:pPr indent="0" marL="0">
              <a:buNone/>
            </a:pPr>
            <a:r>
              <a:rPr lang="en-US" sz="1400" dirty="0">
                <a:solidFill>
                  <a:schemeClr val="bg1"/>
                </a:solidFill>
              </a:rPr>
              <a:t>parameters</a:t>
            </a:r>
            <a:endParaRPr lang="en-US" sz="1400" dirty="0"/>
          </a:p>
        </p:txBody>
      </p:sp>
      <p:sp>
        <p:nvSpPr>
          <p:cNvPr id="6" name="stat model footprint"/>
          <p:cNvSpPr/>
          <p:nvPr/>
        </p:nvSpPr>
        <p:spPr>
          <a:xfrm>
            <a:off x="548640" y="3063240"/>
            <a:ext cx="3291840" cy="1417320"/>
          </a:xfrm>
          <a:prstGeom prst="roundRect">
            <a:avLst>
              <a:gd name="adj" fmla="val 9677"/>
            </a:avLst>
          </a:prstGeom>
          <a:solidFill>
            <a:schemeClr val="tx1"/>
          </a:solidFill>
          <a:ln/>
        </p:spPr>
      </p:sp>
      <p:sp>
        <p:nvSpPr>
          <p:cNvPr id="7" name="Text 5"/>
          <p:cNvSpPr txBox="1"/>
          <p:nvPr/>
        </p:nvSpPr>
        <p:spPr>
          <a:xfrm>
            <a:off x="777240" y="3246120"/>
            <a:ext cx="2834640" cy="731520"/>
          </a:xfrm>
          <a:prstGeom prst="rect">
            <a:avLst/>
          </a:prstGeom>
          <a:noFill/>
          <a:ln/>
        </p:spPr>
        <p:txBody>
          <a:bodyPr wrap="square" lIns="0" tIns="0" rIns="0" bIns="0" rtlCol="0" anchor="t"/>
          <a:lstStyle/>
          <a:p>
            <a:pPr indent="0" marL="0">
              <a:buNone/>
            </a:pPr>
            <a:r>
              <a:rPr lang="en-US" sz="4400" b="1" dirty="0">
                <a:solidFill>
                  <a:schemeClr val="accent6"/>
                </a:solidFill>
                <a:latin typeface="Cambria" pitchFamily="34" charset="0"/>
                <a:ea typeface="Cambria" pitchFamily="34" charset="-122"/>
                <a:cs typeface="Cambria" pitchFamily="34" charset="-120"/>
              </a:rPr>
              <a:t>~14 MB</a:t>
            </a:r>
            <a:endParaRPr lang="en-US" sz="4400" dirty="0"/>
          </a:p>
        </p:txBody>
      </p:sp>
      <p:sp>
        <p:nvSpPr>
          <p:cNvPr id="8" name="Text 6"/>
          <p:cNvSpPr txBox="1"/>
          <p:nvPr/>
        </p:nvSpPr>
        <p:spPr>
          <a:xfrm>
            <a:off x="777240" y="3977640"/>
            <a:ext cx="2834640" cy="320040"/>
          </a:xfrm>
          <a:prstGeom prst="rect">
            <a:avLst/>
          </a:prstGeom>
          <a:noFill/>
          <a:ln/>
        </p:spPr>
        <p:txBody>
          <a:bodyPr wrap="square" lIns="0" tIns="0" rIns="0" bIns="0" rtlCol="0" anchor="t"/>
          <a:lstStyle/>
          <a:p>
            <a:pPr indent="0" marL="0">
              <a:buNone/>
            </a:pPr>
            <a:r>
              <a:rPr lang="en-US" sz="1400" dirty="0">
                <a:solidFill>
                  <a:schemeClr val="bg1"/>
                </a:solidFill>
              </a:rPr>
              <a:t>model footprint</a:t>
            </a:r>
            <a:endParaRPr lang="en-US" sz="1400" dirty="0"/>
          </a:p>
        </p:txBody>
      </p:sp>
      <p:sp>
        <p:nvSpPr>
          <p:cNvPr id="9" name="Text 7"/>
          <p:cNvSpPr txBox="1"/>
          <p:nvPr/>
        </p:nvSpPr>
        <p:spPr>
          <a:xfrm>
            <a:off x="548640" y="4754880"/>
            <a:ext cx="3291840" cy="1097280"/>
          </a:xfrm>
          <a:prstGeom prst="rect">
            <a:avLst/>
          </a:prstGeom>
          <a:noFill/>
          <a:ln/>
        </p:spPr>
        <p:txBody>
          <a:bodyPr wrap="square" lIns="0" tIns="0" rIns="0" bIns="0" rtlCol="0" anchor="t"/>
          <a:lstStyle/>
          <a:p>
            <a:pPr indent="0" marL="0">
              <a:buNone/>
            </a:pPr>
            <a:r>
              <a:rPr lang="en-US" sz="1600" dirty="0">
                <a:solidFill>
                  <a:schemeClr val="tx2"/>
                </a:solidFill>
              </a:rPr>
              <a:t>Inverted residuals with linear bottlenecks: built for low-latency edge devices.</a:t>
            </a:r>
            <a:endParaRPr lang="en-US" sz="1600" dirty="0"/>
          </a:p>
        </p:txBody>
      </p:sp>
      <p:sp>
        <p:nvSpPr>
          <p:cNvPr id="10" name="Phase 1  ·  Train the head"/>
          <p:cNvSpPr/>
          <p:nvPr/>
        </p:nvSpPr>
        <p:spPr>
          <a:xfrm>
            <a:off x="4297680" y="1463040"/>
            <a:ext cx="7342632" cy="2194560"/>
          </a:xfrm>
          <a:prstGeom prst="roundRect">
            <a:avLst>
              <a:gd name="adj" fmla="val 6250"/>
            </a:avLst>
          </a:prstGeom>
          <a:solidFill>
            <a:schemeClr val="bg2"/>
          </a:solidFill>
          <a:ln/>
        </p:spPr>
      </p:sp>
      <p:sp>
        <p:nvSpPr>
          <p:cNvPr id="11" name="Text 9"/>
          <p:cNvSpPr txBox="1"/>
          <p:nvPr/>
        </p:nvSpPr>
        <p:spPr>
          <a:xfrm>
            <a:off x="4572000" y="1645920"/>
            <a:ext cx="6766560" cy="365760"/>
          </a:xfrm>
          <a:prstGeom prst="rect">
            <a:avLst/>
          </a:prstGeom>
          <a:noFill/>
          <a:ln/>
        </p:spPr>
        <p:txBody>
          <a:bodyPr wrap="square" lIns="0" tIns="0" rIns="0" bIns="0" rtlCol="0" anchor="t"/>
          <a:lstStyle/>
          <a:p>
            <a:pPr indent="0" marL="0">
              <a:buNone/>
            </a:pPr>
            <a:r>
              <a:rPr lang="en-US" sz="1800" b="1" dirty="0">
                <a:solidFill>
                  <a:schemeClr val="tx1"/>
                </a:solidFill>
              </a:rPr>
              <a:t>Phase 1  ·  Train the head</a:t>
            </a:r>
            <a:endParaRPr lang="en-US" sz="1800" dirty="0"/>
          </a:p>
        </p:txBody>
      </p:sp>
      <p:sp>
        <p:nvSpPr>
          <p:cNvPr id="12" name="Backbone (frozen)"/>
          <p:cNvSpPr/>
          <p:nvPr/>
        </p:nvSpPr>
        <p:spPr>
          <a:xfrm>
            <a:off x="4572000" y="2194560"/>
            <a:ext cx="2286000" cy="822960"/>
          </a:xfrm>
          <a:prstGeom prst="roundRect">
            <a:avLst>
              <a:gd name="adj" fmla="val 16667"/>
            </a:avLst>
          </a:prstGeom>
          <a:solidFill>
            <a:schemeClr val="tx2"/>
          </a:solidFill>
          <a:ln/>
        </p:spPr>
      </p:sp>
      <p:sp>
        <p:nvSpPr>
          <p:cNvPr id="13" name="Text 11"/>
          <p:cNvSpPr txBox="1"/>
          <p:nvPr/>
        </p:nvSpPr>
        <p:spPr>
          <a:xfrm>
            <a:off x="4663440" y="2194560"/>
            <a:ext cx="2103120" cy="822960"/>
          </a:xfrm>
          <a:prstGeom prst="rect">
            <a:avLst/>
          </a:prstGeom>
          <a:noFill/>
          <a:ln/>
        </p:spPr>
        <p:txBody>
          <a:bodyPr wrap="square" lIns="0" tIns="0" rIns="0" bIns="0" rtlCol="0" anchor="ctr"/>
          <a:lstStyle/>
          <a:p>
            <a:pPr algn="ctr" indent="0" marL="0">
              <a:buNone/>
            </a:pPr>
            <a:r>
              <a:rPr lang="en-US" sz="1400" b="1" dirty="0">
                <a:solidFill>
                  <a:schemeClr val="bg1"/>
                </a:solidFill>
              </a:rPr>
              <a:t>Backbone (frozen)</a:t>
            </a:r>
            <a:endParaRPr lang="en-US" sz="1400" dirty="0"/>
          </a:p>
        </p:txBody>
      </p:sp>
      <p:sp>
        <p:nvSpPr>
          <p:cNvPr id="14" name="flow arrow"/>
          <p:cNvSpPr/>
          <p:nvPr/>
        </p:nvSpPr>
        <p:spPr>
          <a:xfrm>
            <a:off x="6903720" y="2468880"/>
            <a:ext cx="274320" cy="274320"/>
          </a:xfrm>
          <a:prstGeom prst="rightArrow">
            <a:avLst/>
          </a:prstGeom>
          <a:solidFill>
            <a:schemeClr val="tx2"/>
          </a:solidFill>
          <a:ln/>
        </p:spPr>
      </p:sp>
      <p:sp>
        <p:nvSpPr>
          <p:cNvPr id="15" name="Dropout 0.3"/>
          <p:cNvSpPr/>
          <p:nvPr/>
        </p:nvSpPr>
        <p:spPr>
          <a:xfrm>
            <a:off x="7223760" y="2194560"/>
            <a:ext cx="1554480" cy="822960"/>
          </a:xfrm>
          <a:prstGeom prst="roundRect">
            <a:avLst>
              <a:gd name="adj" fmla="val 16667"/>
            </a:avLst>
          </a:prstGeom>
          <a:solidFill>
            <a:schemeClr val="accent3"/>
          </a:solidFill>
          <a:ln/>
        </p:spPr>
      </p:sp>
      <p:sp>
        <p:nvSpPr>
          <p:cNvPr id="16" name="Text 14"/>
          <p:cNvSpPr txBox="1"/>
          <p:nvPr/>
        </p:nvSpPr>
        <p:spPr>
          <a:xfrm>
            <a:off x="7315200" y="2194560"/>
            <a:ext cx="1371600" cy="822960"/>
          </a:xfrm>
          <a:prstGeom prst="rect">
            <a:avLst/>
          </a:prstGeom>
          <a:noFill/>
          <a:ln/>
        </p:spPr>
        <p:txBody>
          <a:bodyPr wrap="square" lIns="0" tIns="0" rIns="0" bIns="0" rtlCol="0" anchor="ctr"/>
          <a:lstStyle/>
          <a:p>
            <a:pPr algn="ctr" indent="0" marL="0">
              <a:buNone/>
            </a:pPr>
            <a:r>
              <a:rPr lang="en-US" sz="1400" b="1" dirty="0">
                <a:solidFill>
                  <a:schemeClr val="bg1"/>
                </a:solidFill>
              </a:rPr>
              <a:t>Dropout 0.3</a:t>
            </a:r>
            <a:endParaRPr lang="en-US" sz="1400" dirty="0"/>
          </a:p>
        </p:txBody>
      </p:sp>
      <p:sp>
        <p:nvSpPr>
          <p:cNvPr id="17" name="flow arrow"/>
          <p:cNvSpPr/>
          <p:nvPr/>
        </p:nvSpPr>
        <p:spPr>
          <a:xfrm>
            <a:off x="8823960" y="2468880"/>
            <a:ext cx="274320" cy="274320"/>
          </a:xfrm>
          <a:prstGeom prst="rightArrow">
            <a:avLst/>
          </a:prstGeom>
          <a:solidFill>
            <a:schemeClr val="tx2"/>
          </a:solidFill>
          <a:ln/>
        </p:spPr>
      </p:sp>
      <p:sp>
        <p:nvSpPr>
          <p:cNvPr id="18" name="Linear head, 6 classes"/>
          <p:cNvSpPr/>
          <p:nvPr/>
        </p:nvSpPr>
        <p:spPr>
          <a:xfrm>
            <a:off x="9144000" y="2194560"/>
            <a:ext cx="2011680" cy="822960"/>
          </a:xfrm>
          <a:prstGeom prst="roundRect">
            <a:avLst>
              <a:gd name="adj" fmla="val 16667"/>
            </a:avLst>
          </a:prstGeom>
          <a:solidFill>
            <a:schemeClr val="accent1"/>
          </a:solidFill>
          <a:ln/>
        </p:spPr>
      </p:sp>
      <p:sp>
        <p:nvSpPr>
          <p:cNvPr id="19" name="Text 17"/>
          <p:cNvSpPr txBox="1"/>
          <p:nvPr/>
        </p:nvSpPr>
        <p:spPr>
          <a:xfrm>
            <a:off x="9235440" y="2194560"/>
            <a:ext cx="1828800" cy="822960"/>
          </a:xfrm>
          <a:prstGeom prst="rect">
            <a:avLst/>
          </a:prstGeom>
          <a:noFill/>
          <a:ln/>
        </p:spPr>
        <p:txBody>
          <a:bodyPr wrap="square" lIns="0" tIns="0" rIns="0" bIns="0" rtlCol="0" anchor="ctr"/>
          <a:lstStyle/>
          <a:p>
            <a:pPr algn="ctr" indent="0" marL="0">
              <a:buNone/>
            </a:pPr>
            <a:r>
              <a:rPr lang="en-US" sz="1400" b="1" dirty="0">
                <a:solidFill>
                  <a:schemeClr val="bg1"/>
                </a:solidFill>
              </a:rPr>
              <a:t>Linear head, 6 classes</a:t>
            </a:r>
            <a:endParaRPr lang="en-US" sz="1400" dirty="0"/>
          </a:p>
        </p:txBody>
      </p:sp>
      <p:sp>
        <p:nvSpPr>
          <p:cNvPr id="20" name="Text 18"/>
          <p:cNvSpPr txBox="1"/>
          <p:nvPr/>
        </p:nvSpPr>
        <p:spPr>
          <a:xfrm>
            <a:off x="4572000" y="3154680"/>
            <a:ext cx="6766560" cy="320040"/>
          </a:xfrm>
          <a:prstGeom prst="rect">
            <a:avLst/>
          </a:prstGeom>
          <a:noFill/>
          <a:ln/>
        </p:spPr>
        <p:txBody>
          <a:bodyPr wrap="square" lIns="0" tIns="0" rIns="0" bIns="0" rtlCol="0" anchor="t"/>
          <a:lstStyle/>
          <a:p>
            <a:pPr indent="0" marL="0">
              <a:buNone/>
            </a:pPr>
            <a:r>
              <a:rPr lang="en-US" sz="1400" i="1" dirty="0">
                <a:solidFill>
                  <a:schemeClr val="tx2"/>
                </a:solidFill>
              </a:rPr>
              <a:t>Backbone weights stay fixed; only the new head learns.</a:t>
            </a:r>
            <a:endParaRPr lang="en-US" sz="1400" dirty="0"/>
          </a:p>
        </p:txBody>
      </p:sp>
      <p:sp>
        <p:nvSpPr>
          <p:cNvPr id="21" name="Phase 2  ·  Fine-tune the top blocks"/>
          <p:cNvSpPr/>
          <p:nvPr/>
        </p:nvSpPr>
        <p:spPr>
          <a:xfrm>
            <a:off x="4297680" y="3840480"/>
            <a:ext cx="7342632" cy="2194560"/>
          </a:xfrm>
          <a:prstGeom prst="roundRect">
            <a:avLst>
              <a:gd name="adj" fmla="val 6250"/>
            </a:avLst>
          </a:prstGeom>
          <a:solidFill>
            <a:schemeClr val="bg2"/>
          </a:solidFill>
          <a:ln/>
        </p:spPr>
      </p:sp>
      <p:sp>
        <p:nvSpPr>
          <p:cNvPr id="22" name="Text 20"/>
          <p:cNvSpPr txBox="1"/>
          <p:nvPr/>
        </p:nvSpPr>
        <p:spPr>
          <a:xfrm>
            <a:off x="4572000" y="4023360"/>
            <a:ext cx="6766560" cy="365760"/>
          </a:xfrm>
          <a:prstGeom prst="rect">
            <a:avLst/>
          </a:prstGeom>
          <a:noFill/>
          <a:ln/>
        </p:spPr>
        <p:txBody>
          <a:bodyPr wrap="square" lIns="0" tIns="0" rIns="0" bIns="0" rtlCol="0" anchor="t"/>
          <a:lstStyle/>
          <a:p>
            <a:pPr indent="0" marL="0">
              <a:buNone/>
            </a:pPr>
            <a:r>
              <a:rPr lang="en-US" sz="1800" b="1" dirty="0">
                <a:solidFill>
                  <a:schemeClr val="tx1"/>
                </a:solidFill>
              </a:rPr>
              <a:t>Phase 2  ·  Fine-tune the top blocks</a:t>
            </a:r>
            <a:endParaRPr lang="en-US" sz="1800" dirty="0"/>
          </a:p>
        </p:txBody>
      </p:sp>
      <p:sp>
        <p:nvSpPr>
          <p:cNvPr id="23" name="Lower blocks (frozen)"/>
          <p:cNvSpPr/>
          <p:nvPr/>
        </p:nvSpPr>
        <p:spPr>
          <a:xfrm>
            <a:off x="4572000" y="4572000"/>
            <a:ext cx="1828800" cy="822960"/>
          </a:xfrm>
          <a:prstGeom prst="roundRect">
            <a:avLst>
              <a:gd name="adj" fmla="val 16667"/>
            </a:avLst>
          </a:prstGeom>
          <a:solidFill>
            <a:schemeClr val="tx2"/>
          </a:solidFill>
          <a:ln/>
        </p:spPr>
      </p:sp>
      <p:sp>
        <p:nvSpPr>
          <p:cNvPr id="24" name="Text 22"/>
          <p:cNvSpPr txBox="1"/>
          <p:nvPr/>
        </p:nvSpPr>
        <p:spPr>
          <a:xfrm>
            <a:off x="4663440" y="4572000"/>
            <a:ext cx="1645920" cy="822960"/>
          </a:xfrm>
          <a:prstGeom prst="rect">
            <a:avLst/>
          </a:prstGeom>
          <a:noFill/>
          <a:ln/>
        </p:spPr>
        <p:txBody>
          <a:bodyPr wrap="square" lIns="0" tIns="0" rIns="0" bIns="0" rtlCol="0" anchor="ctr"/>
          <a:lstStyle/>
          <a:p>
            <a:pPr algn="ctr" indent="0" marL="0">
              <a:buNone/>
            </a:pPr>
            <a:r>
              <a:rPr lang="en-US" sz="1400" b="1" dirty="0">
                <a:solidFill>
                  <a:schemeClr val="bg1"/>
                </a:solidFill>
              </a:rPr>
              <a:t>Lower blocks (frozen)</a:t>
            </a:r>
            <a:endParaRPr lang="en-US" sz="1400" dirty="0"/>
          </a:p>
        </p:txBody>
      </p:sp>
      <p:sp>
        <p:nvSpPr>
          <p:cNvPr id="25" name="flow arrow"/>
          <p:cNvSpPr/>
          <p:nvPr/>
        </p:nvSpPr>
        <p:spPr>
          <a:xfrm>
            <a:off x="6446520" y="4846320"/>
            <a:ext cx="274320" cy="274320"/>
          </a:xfrm>
          <a:prstGeom prst="rightArrow">
            <a:avLst/>
          </a:prstGeom>
          <a:solidFill>
            <a:schemeClr val="tx2"/>
          </a:solidFill>
          <a:ln/>
        </p:spPr>
      </p:sp>
      <p:sp>
        <p:nvSpPr>
          <p:cNvPr id="26" name="Top bottleneck blocks (unfrozen)"/>
          <p:cNvSpPr/>
          <p:nvPr/>
        </p:nvSpPr>
        <p:spPr>
          <a:xfrm>
            <a:off x="6766560" y="4572000"/>
            <a:ext cx="2377440" cy="822960"/>
          </a:xfrm>
          <a:prstGeom prst="roundRect">
            <a:avLst>
              <a:gd name="adj" fmla="val 16667"/>
            </a:avLst>
          </a:prstGeom>
          <a:solidFill>
            <a:schemeClr val="accent1"/>
          </a:solidFill>
          <a:ln/>
        </p:spPr>
      </p:sp>
      <p:sp>
        <p:nvSpPr>
          <p:cNvPr id="27" name="Text 25"/>
          <p:cNvSpPr txBox="1"/>
          <p:nvPr/>
        </p:nvSpPr>
        <p:spPr>
          <a:xfrm>
            <a:off x="6858000" y="4572000"/>
            <a:ext cx="2194560" cy="822960"/>
          </a:xfrm>
          <a:prstGeom prst="rect">
            <a:avLst/>
          </a:prstGeom>
          <a:noFill/>
          <a:ln/>
        </p:spPr>
        <p:txBody>
          <a:bodyPr wrap="square" lIns="0" tIns="0" rIns="0" bIns="0" rtlCol="0" anchor="ctr"/>
          <a:lstStyle/>
          <a:p>
            <a:pPr algn="ctr" indent="0" marL="0">
              <a:buNone/>
            </a:pPr>
            <a:r>
              <a:rPr lang="en-US" sz="1400" b="1" dirty="0">
                <a:solidFill>
                  <a:schemeClr val="bg1"/>
                </a:solidFill>
              </a:rPr>
              <a:t>Top bottleneck blocks (unfrozen)</a:t>
            </a:r>
            <a:endParaRPr lang="en-US" sz="1400" dirty="0"/>
          </a:p>
        </p:txBody>
      </p:sp>
      <p:sp>
        <p:nvSpPr>
          <p:cNvPr id="28" name="flow arrow"/>
          <p:cNvSpPr/>
          <p:nvPr/>
        </p:nvSpPr>
        <p:spPr>
          <a:xfrm>
            <a:off x="9189720" y="4846320"/>
            <a:ext cx="274320" cy="274320"/>
          </a:xfrm>
          <a:prstGeom prst="rightArrow">
            <a:avLst/>
          </a:prstGeom>
          <a:solidFill>
            <a:schemeClr val="tx2"/>
          </a:solidFill>
          <a:ln/>
        </p:spPr>
      </p:sp>
      <p:sp>
        <p:nvSpPr>
          <p:cNvPr id="29" name="Dropout 0.3 + Linear head"/>
          <p:cNvSpPr/>
          <p:nvPr/>
        </p:nvSpPr>
        <p:spPr>
          <a:xfrm>
            <a:off x="9509760" y="4572000"/>
            <a:ext cx="1828800" cy="822960"/>
          </a:xfrm>
          <a:prstGeom prst="roundRect">
            <a:avLst>
              <a:gd name="adj" fmla="val 16667"/>
            </a:avLst>
          </a:prstGeom>
          <a:solidFill>
            <a:schemeClr val="accent3"/>
          </a:solidFill>
          <a:ln/>
        </p:spPr>
      </p:sp>
      <p:sp>
        <p:nvSpPr>
          <p:cNvPr id="30" name="Text 28"/>
          <p:cNvSpPr txBox="1"/>
          <p:nvPr/>
        </p:nvSpPr>
        <p:spPr>
          <a:xfrm>
            <a:off x="9601200" y="4572000"/>
            <a:ext cx="1645920" cy="822960"/>
          </a:xfrm>
          <a:prstGeom prst="rect">
            <a:avLst/>
          </a:prstGeom>
          <a:noFill/>
          <a:ln/>
        </p:spPr>
        <p:txBody>
          <a:bodyPr wrap="square" lIns="0" tIns="0" rIns="0" bIns="0" rtlCol="0" anchor="ctr"/>
          <a:lstStyle/>
          <a:p>
            <a:pPr algn="ctr" indent="0" marL="0">
              <a:buNone/>
            </a:pPr>
            <a:r>
              <a:rPr lang="en-US" sz="1400" b="1" dirty="0">
                <a:solidFill>
                  <a:schemeClr val="bg1"/>
                </a:solidFill>
              </a:rPr>
              <a:t>Dropout 0.3 + Linear head</a:t>
            </a:r>
            <a:endParaRPr lang="en-US" sz="1400" dirty="0"/>
          </a:p>
        </p:txBody>
      </p:sp>
      <p:sp>
        <p:nvSpPr>
          <p:cNvPr id="31" name="Text 29"/>
          <p:cNvSpPr txBox="1"/>
          <p:nvPr/>
        </p:nvSpPr>
        <p:spPr>
          <a:xfrm>
            <a:off x="4572000" y="5532120"/>
            <a:ext cx="6766560" cy="320040"/>
          </a:xfrm>
          <a:prstGeom prst="rect">
            <a:avLst/>
          </a:prstGeom>
          <a:noFill/>
          <a:ln/>
        </p:spPr>
        <p:txBody>
          <a:bodyPr wrap="square" lIns="0" tIns="0" rIns="0" bIns="0" rtlCol="0" anchor="t"/>
          <a:lstStyle/>
          <a:p>
            <a:pPr indent="0" marL="0">
              <a:buNone/>
            </a:pPr>
            <a:r>
              <a:rPr lang="en-US" sz="1400" i="1" dirty="0">
                <a:solidFill>
                  <a:schemeClr val="tx2"/>
                </a:solidFill>
              </a:rPr>
              <a:t>Cosine annealing learning-rate schedule.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Test accuracy: transfer learning leads</a:t>
            </a:r>
            <a:endParaRPr lang="en-US" sz="3400" dirty="0"/>
          </a:p>
        </p:txBody>
      </p:sp>
      <p:graphicFrame>
        <p:nvGraphicFramePr>
          <p:cNvPr id="3" name="Chart 0" descr=""/>
          <p:cNvGraphicFramePr/>
          <p:nvPr/>
        </p:nvGraphicFramePr>
        <p:xfrm>
          <a:off x="548640" y="1463040"/>
          <a:ext cx="6309360" cy="466344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223760" y="1554480"/>
          <a:ext cx="4416552" cy="914400"/>
        </p:xfrm>
        <a:graphic>
          <a:graphicData uri="http://schemas.openxmlformats.org/drawingml/2006/table">
            <a:tbl>
              <a:tblPr/>
              <a:tblGrid>
                <a:gridCol w="1856232"/>
                <a:gridCol w="1280160"/>
                <a:gridCol w="1280160"/>
              </a:tblGrid>
              <a:tr h="502920">
                <a:tc>
                  <a:txBody>
                    <a:bodyPr/>
                    <a:lstStyle/>
                    <a:p>
                      <a:pPr algn="l" indent="0" marL="0">
                        <a:buNone/>
                      </a:pPr>
                      <a:r>
                        <a:rPr lang="en-US" sz="1400" b="1" dirty="0">
                          <a:solidFill>
                            <a:schemeClr val="bg1"/>
                          </a:solidFill>
                        </a:rPr>
                        <a:t>Model</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Macro F1</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ECE</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r>
              <a:tr h="502920">
                <a:tc>
                  <a:txBody>
                    <a:bodyPr/>
                    <a:lstStyle/>
                    <a:p>
                      <a:pPr algn="l" indent="0" marL="0">
                        <a:buNone/>
                      </a:pPr>
                      <a:r>
                        <a:rPr lang="en-US" sz="1400" dirty="0">
                          <a:solidFill>
                            <a:schemeClr val="tx1"/>
                          </a:solidFill>
                        </a:rPr>
                        <a:t>Zero-rule</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0.0500</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r h="502920">
                <a:tc>
                  <a:txBody>
                    <a:bodyPr/>
                    <a:lstStyle/>
                    <a:p>
                      <a:pPr algn="l" indent="0" marL="0">
                        <a:buNone/>
                      </a:pPr>
                      <a:r>
                        <a:rPr lang="en-US" sz="1400" dirty="0">
                          <a:solidFill>
                            <a:schemeClr val="tx1"/>
                          </a:solidFill>
                        </a:rPr>
                        <a:t>SVM (RBF)</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0.7199</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0.0590</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r h="502920">
                <a:tc>
                  <a:txBody>
                    <a:bodyPr/>
                    <a:lstStyle/>
                    <a:p>
                      <a:pPr algn="l" indent="0" marL="0">
                        <a:buNone/>
                      </a:pPr>
                      <a:r>
                        <a:rPr lang="en-US" sz="1400" dirty="0">
                          <a:solidFill>
                            <a:schemeClr val="tx1"/>
                          </a:solidFill>
                        </a:rPr>
                        <a:t>Random Forest</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0.7405</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0.3168</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r h="502920">
                <a:tc>
                  <a:txBody>
                    <a:bodyPr/>
                    <a:lstStyle/>
                    <a:p>
                      <a:pPr algn="l" indent="0" marL="0">
                        <a:buNone/>
                      </a:pPr>
                      <a:r>
                        <a:rPr lang="en-US" sz="1400" b="1" dirty="0">
                          <a:solidFill>
                            <a:schemeClr val="tx1"/>
                          </a:solidFill>
                        </a:rPr>
                        <a:t>MobileNetV2</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4"/>
                    </a:solidFill>
                  </a:tcPr>
                </a:tc>
                <a:tc>
                  <a:txBody>
                    <a:bodyPr/>
                    <a:lstStyle/>
                    <a:p>
                      <a:pPr algn="ctr" indent="0" marL="0">
                        <a:buNone/>
                      </a:pPr>
                      <a:r>
                        <a:rPr lang="en-US" sz="1400" b="1" dirty="0">
                          <a:solidFill>
                            <a:schemeClr val="tx1"/>
                          </a:solidFill>
                        </a:rPr>
                        <a:t>0.8268</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4"/>
                    </a:solidFill>
                  </a:tcPr>
                </a:tc>
                <a:tc>
                  <a:txBody>
                    <a:bodyPr/>
                    <a:lstStyle/>
                    <a:p>
                      <a:pPr algn="ctr" indent="0" marL="0">
                        <a:buNone/>
                      </a:pPr>
                      <a:r>
                        <a:rPr lang="en-US" sz="1400" b="1" dirty="0">
                          <a:solidFill>
                            <a:schemeClr val="tx1"/>
                          </a:solidFill>
                        </a:rPr>
                        <a:t>0.1038</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4"/>
                    </a:solidFill>
                  </a:tcPr>
                </a:tc>
              </a:tr>
            </a:tbl>
          </a:graphicData>
        </a:graphic>
      </p:graphicFrame>
      <p:sp>
        <p:nvSpPr>
          <p:cNvPr id="5" name="gain callout"/>
          <p:cNvSpPr/>
          <p:nvPr/>
        </p:nvSpPr>
        <p:spPr>
          <a:xfrm>
            <a:off x="7223760" y="4480560"/>
            <a:ext cx="4416552" cy="1645920"/>
          </a:xfrm>
          <a:prstGeom prst="roundRect">
            <a:avLst>
              <a:gd name="adj" fmla="val 8333"/>
            </a:avLst>
          </a:prstGeom>
          <a:solidFill>
            <a:schemeClr val="tx1"/>
          </a:solidFill>
          <a:ln/>
        </p:spPr>
      </p:sp>
      <p:sp>
        <p:nvSpPr>
          <p:cNvPr id="6" name="Text 2"/>
          <p:cNvSpPr txBox="1"/>
          <p:nvPr/>
        </p:nvSpPr>
        <p:spPr>
          <a:xfrm>
            <a:off x="7452360" y="4617720"/>
            <a:ext cx="3931920" cy="777240"/>
          </a:xfrm>
          <a:prstGeom prst="rect">
            <a:avLst/>
          </a:prstGeom>
          <a:noFill/>
          <a:ln/>
        </p:spPr>
        <p:txBody>
          <a:bodyPr wrap="square" lIns="0" tIns="0" rIns="0" bIns="0" rtlCol="0" anchor="t"/>
          <a:lstStyle/>
          <a:p>
            <a:pPr indent="0" marL="0">
              <a:buNone/>
            </a:pPr>
            <a:r>
              <a:rPr lang="en-US" sz="4800" b="1" dirty="0">
                <a:solidFill>
                  <a:schemeClr val="accent6"/>
                </a:solidFill>
                <a:latin typeface="Cambria" pitchFamily="34" charset="0"/>
                <a:ea typeface="Cambria" pitchFamily="34" charset="-122"/>
                <a:cs typeface="Cambria" pitchFamily="34" charset="-120"/>
              </a:rPr>
              <a:t>+9.5 pts</a:t>
            </a:r>
            <a:endParaRPr lang="en-US" sz="4800" dirty="0"/>
          </a:p>
        </p:txBody>
      </p:sp>
      <p:sp>
        <p:nvSpPr>
          <p:cNvPr id="7" name="Text 3"/>
          <p:cNvSpPr txBox="1"/>
          <p:nvPr/>
        </p:nvSpPr>
        <p:spPr>
          <a:xfrm>
            <a:off x="7452360" y="5440680"/>
            <a:ext cx="3931920" cy="594360"/>
          </a:xfrm>
          <a:prstGeom prst="rect">
            <a:avLst/>
          </a:prstGeom>
          <a:noFill/>
          <a:ln/>
        </p:spPr>
        <p:txBody>
          <a:bodyPr wrap="square" lIns="0" tIns="0" rIns="0" bIns="0" rtlCol="0" anchor="t"/>
          <a:lstStyle/>
          <a:p>
            <a:pPr indent="0" marL="0">
              <a:buNone/>
            </a:pPr>
            <a:r>
              <a:rPr lang="en-US" sz="1400" dirty="0">
                <a:solidFill>
                  <a:schemeClr val="bg1"/>
                </a:solidFill>
              </a:rPr>
              <a:t>accuracy over the best classical model, Random Forest at 74.87%</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bg1"/>
                </a:solidFill>
              </a:rPr>
              <a:t>The representation gap</a:t>
            </a:r>
            <a:endParaRPr lang="en-US" sz="3400" dirty="0"/>
          </a:p>
        </p:txBody>
      </p:sp>
      <p:sp>
        <p:nvSpPr>
          <p:cNvPr id="3" name="Crushed metal cans panel"/>
          <p:cNvSpPr/>
          <p:nvPr/>
        </p:nvSpPr>
        <p:spPr>
          <a:xfrm>
            <a:off x="548640" y="1508760"/>
            <a:ext cx="5394960" cy="3931920"/>
          </a:xfrm>
          <a:prstGeom prst="roundRect">
            <a:avLst>
              <a:gd name="adj" fmla="val 3488"/>
            </a:avLst>
          </a:prstGeom>
          <a:solidFill>
            <a:schemeClr val="accent3"/>
          </a:solidFill>
          <a:ln/>
        </p:spPr>
      </p:sp>
      <p:sp>
        <p:nvSpPr>
          <p:cNvPr id="4" name="Crushed metal cans circle"/>
          <p:cNvSpPr/>
          <p:nvPr/>
        </p:nvSpPr>
        <p:spPr>
          <a:xfrm>
            <a:off x="914400" y="1783080"/>
            <a:ext cx="731520" cy="731520"/>
          </a:xfrm>
          <a:prstGeom prst="ellipse">
            <a:avLst/>
          </a:prstGeom>
          <a:solidFill>
            <a:schemeClr val="accent6"/>
          </a:solidFill>
          <a:ln/>
        </p:spPr>
      </p:sp>
      <p:pic>
        <p:nvPicPr>
          <p:cNvPr id="5" name="Image 0" descr="Crushed metal cans">    </p:cNvPr>
          <p:cNvPicPr>
            <a:picLocks noChangeAspect="1"/>
          </p:cNvPicPr>
          <p:nvPr/>
        </p:nvPicPr>
        <p:blipFill>
          <a:blip r:embed="rId1"/>
          <a:stretch>
            <a:fillRect/>
          </a:stretch>
        </p:blipFill>
        <p:spPr>
          <a:xfrm>
            <a:off x="1097280" y="1965960"/>
            <a:ext cx="365760" cy="365760"/>
          </a:xfrm>
          <a:prstGeom prst="rect">
            <a:avLst/>
          </a:prstGeom>
        </p:spPr>
      </p:pic>
      <p:sp>
        <p:nvSpPr>
          <p:cNvPr id="6" name="Text 3"/>
          <p:cNvSpPr txBox="1"/>
          <p:nvPr/>
        </p:nvSpPr>
        <p:spPr>
          <a:xfrm>
            <a:off x="1828800" y="1783080"/>
            <a:ext cx="3840480" cy="731520"/>
          </a:xfrm>
          <a:prstGeom prst="rect">
            <a:avLst/>
          </a:prstGeom>
          <a:noFill/>
          <a:ln/>
        </p:spPr>
        <p:txBody>
          <a:bodyPr wrap="square" lIns="0" tIns="0" rIns="0" bIns="0" rtlCol="0" anchor="ctr"/>
          <a:lstStyle/>
          <a:p>
            <a:pPr indent="0" marL="0">
              <a:buNone/>
            </a:pPr>
            <a:r>
              <a:rPr lang="en-US" sz="2200" b="1" dirty="0">
                <a:solidFill>
                  <a:schemeClr val="bg1"/>
                </a:solidFill>
              </a:rPr>
              <a:t>Crushed metal cans</a:t>
            </a:r>
            <a:endParaRPr lang="en-US" sz="2200" dirty="0"/>
          </a:p>
        </p:txBody>
      </p:sp>
      <p:sp>
        <p:nvSpPr>
          <p:cNvPr id="7" name="Text 4"/>
          <p:cNvSpPr txBox="1"/>
          <p:nvPr/>
        </p:nvSpPr>
        <p:spPr>
          <a:xfrm>
            <a:off x="914400" y="2743200"/>
            <a:ext cx="4572000" cy="1097280"/>
          </a:xfrm>
          <a:prstGeom prst="rect">
            <a:avLst/>
          </a:prstGeom>
          <a:noFill/>
          <a:ln/>
        </p:spPr>
        <p:txBody>
          <a:bodyPr wrap="square" lIns="0" tIns="0" rIns="0" bIns="0" rtlCol="0" anchor="t"/>
          <a:lstStyle/>
          <a:p>
            <a:pPr indent="0" marL="0">
              <a:buNone/>
            </a:pPr>
            <a:r>
              <a:rPr lang="en-US" sz="7200" b="1" dirty="0">
                <a:solidFill>
                  <a:schemeClr val="accent6"/>
                </a:solidFill>
                <a:latin typeface="Cambria" pitchFamily="34" charset="0"/>
                <a:ea typeface="Cambria" pitchFamily="34" charset="-122"/>
                <a:cs typeface="Cambria" pitchFamily="34" charset="-120"/>
              </a:rPr>
              <a:t>+18.0%</a:t>
            </a:r>
            <a:endParaRPr lang="en-US" sz="7200" dirty="0"/>
          </a:p>
        </p:txBody>
      </p:sp>
      <p:sp>
        <p:nvSpPr>
          <p:cNvPr id="8" name="Text 5"/>
          <p:cNvSpPr txBox="1"/>
          <p:nvPr/>
        </p:nvSpPr>
        <p:spPr>
          <a:xfrm>
            <a:off x="914400" y="3840480"/>
            <a:ext cx="4572000" cy="320040"/>
          </a:xfrm>
          <a:prstGeom prst="rect">
            <a:avLst/>
          </a:prstGeom>
          <a:noFill/>
          <a:ln/>
        </p:spPr>
        <p:txBody>
          <a:bodyPr wrap="square" lIns="0" tIns="0" rIns="0" bIns="0" rtlCol="0" anchor="t"/>
          <a:lstStyle/>
          <a:p>
            <a:pPr indent="0" marL="0">
              <a:buNone/>
            </a:pPr>
            <a:r>
              <a:rPr lang="en-US" sz="1400" dirty="0">
                <a:solidFill>
                  <a:schemeClr val="accent4"/>
                </a:solidFill>
              </a:rPr>
              <a:t>recall gain with deep learning</a:t>
            </a:r>
            <a:endParaRPr lang="en-US" sz="1400" dirty="0"/>
          </a:p>
        </p:txBody>
      </p:sp>
      <p:sp>
        <p:nvSpPr>
          <p:cNvPr id="9" name="Text 6"/>
          <p:cNvSpPr txBox="1"/>
          <p:nvPr/>
        </p:nvSpPr>
        <p:spPr>
          <a:xfrm>
            <a:off x="914400" y="4389120"/>
            <a:ext cx="4663440" cy="822960"/>
          </a:xfrm>
          <a:prstGeom prst="rect">
            <a:avLst/>
          </a:prstGeom>
          <a:noFill/>
          <a:ln/>
        </p:spPr>
        <p:txBody>
          <a:bodyPr wrap="square" lIns="0" tIns="0" rIns="0" bIns="0" rtlCol="0" anchor="t"/>
          <a:lstStyle/>
          <a:p>
            <a:pPr indent="0" marL="0">
              <a:buNone/>
            </a:pPr>
            <a:r>
              <a:rPr lang="en-US" sz="1600" dirty="0">
                <a:solidFill>
                  <a:schemeClr val="bg1"/>
                </a:solidFill>
              </a:rPr>
              <a:t>Crushed cans destroy the parallel edge gradients, so HOG breaks down.</a:t>
            </a:r>
            <a:endParaRPr lang="en-US" sz="1600" dirty="0"/>
          </a:p>
        </p:txBody>
      </p:sp>
      <p:sp>
        <p:nvSpPr>
          <p:cNvPr id="10" name="Crumpled plastic bottles panel"/>
          <p:cNvSpPr/>
          <p:nvPr/>
        </p:nvSpPr>
        <p:spPr>
          <a:xfrm>
            <a:off x="6245352" y="1508760"/>
            <a:ext cx="5394960" cy="3931920"/>
          </a:xfrm>
          <a:prstGeom prst="roundRect">
            <a:avLst>
              <a:gd name="adj" fmla="val 3488"/>
            </a:avLst>
          </a:prstGeom>
          <a:solidFill>
            <a:schemeClr val="accent3"/>
          </a:solidFill>
          <a:ln/>
        </p:spPr>
      </p:sp>
      <p:sp>
        <p:nvSpPr>
          <p:cNvPr id="11" name="Crumpled plastic bottles circle"/>
          <p:cNvSpPr/>
          <p:nvPr/>
        </p:nvSpPr>
        <p:spPr>
          <a:xfrm>
            <a:off x="6611112" y="1783080"/>
            <a:ext cx="731520" cy="731520"/>
          </a:xfrm>
          <a:prstGeom prst="ellipse">
            <a:avLst/>
          </a:prstGeom>
          <a:solidFill>
            <a:schemeClr val="accent6"/>
          </a:solidFill>
          <a:ln/>
        </p:spPr>
      </p:sp>
      <p:pic>
        <p:nvPicPr>
          <p:cNvPr id="12" name="Image 1" descr="Crumpled plastic bottles">    </p:cNvPr>
          <p:cNvPicPr>
            <a:picLocks noChangeAspect="1"/>
          </p:cNvPicPr>
          <p:nvPr/>
        </p:nvPicPr>
        <p:blipFill>
          <a:blip r:embed="rId2"/>
          <a:stretch>
            <a:fillRect/>
          </a:stretch>
        </p:blipFill>
        <p:spPr>
          <a:xfrm>
            <a:off x="6793992" y="1965960"/>
            <a:ext cx="365760" cy="365760"/>
          </a:xfrm>
          <a:prstGeom prst="rect">
            <a:avLst/>
          </a:prstGeom>
        </p:spPr>
      </p:pic>
      <p:sp>
        <p:nvSpPr>
          <p:cNvPr id="13" name="Text 9"/>
          <p:cNvSpPr txBox="1"/>
          <p:nvPr/>
        </p:nvSpPr>
        <p:spPr>
          <a:xfrm>
            <a:off x="7525512" y="1783080"/>
            <a:ext cx="3840480" cy="731520"/>
          </a:xfrm>
          <a:prstGeom prst="rect">
            <a:avLst/>
          </a:prstGeom>
          <a:noFill/>
          <a:ln/>
        </p:spPr>
        <p:txBody>
          <a:bodyPr wrap="square" lIns="0" tIns="0" rIns="0" bIns="0" rtlCol="0" anchor="ctr"/>
          <a:lstStyle/>
          <a:p>
            <a:pPr indent="0" marL="0">
              <a:buNone/>
            </a:pPr>
            <a:r>
              <a:rPr lang="en-US" sz="2200" b="1" dirty="0">
                <a:solidFill>
                  <a:schemeClr val="bg1"/>
                </a:solidFill>
              </a:rPr>
              <a:t>Crumpled plastic bottles</a:t>
            </a:r>
            <a:endParaRPr lang="en-US" sz="2200" dirty="0"/>
          </a:p>
        </p:txBody>
      </p:sp>
      <p:sp>
        <p:nvSpPr>
          <p:cNvPr id="14" name="Text 10"/>
          <p:cNvSpPr txBox="1"/>
          <p:nvPr/>
        </p:nvSpPr>
        <p:spPr>
          <a:xfrm>
            <a:off x="6611112" y="2743200"/>
            <a:ext cx="4572000" cy="1097280"/>
          </a:xfrm>
          <a:prstGeom prst="rect">
            <a:avLst/>
          </a:prstGeom>
          <a:noFill/>
          <a:ln/>
        </p:spPr>
        <p:txBody>
          <a:bodyPr wrap="square" lIns="0" tIns="0" rIns="0" bIns="0" rtlCol="0" anchor="t"/>
          <a:lstStyle/>
          <a:p>
            <a:pPr indent="0" marL="0">
              <a:buNone/>
            </a:pPr>
            <a:r>
              <a:rPr lang="en-US" sz="7200" b="1" dirty="0">
                <a:solidFill>
                  <a:schemeClr val="accent6"/>
                </a:solidFill>
                <a:latin typeface="Cambria" pitchFamily="34" charset="0"/>
                <a:ea typeface="Cambria" pitchFamily="34" charset="-122"/>
                <a:cs typeface="Cambria" pitchFamily="34" charset="-120"/>
              </a:rPr>
              <a:t>+16.6%</a:t>
            </a:r>
            <a:endParaRPr lang="en-US" sz="7200" dirty="0"/>
          </a:p>
        </p:txBody>
      </p:sp>
      <p:sp>
        <p:nvSpPr>
          <p:cNvPr id="15" name="Text 11"/>
          <p:cNvSpPr txBox="1"/>
          <p:nvPr/>
        </p:nvSpPr>
        <p:spPr>
          <a:xfrm>
            <a:off x="6611112" y="3840480"/>
            <a:ext cx="4572000" cy="320040"/>
          </a:xfrm>
          <a:prstGeom prst="rect">
            <a:avLst/>
          </a:prstGeom>
          <a:noFill/>
          <a:ln/>
        </p:spPr>
        <p:txBody>
          <a:bodyPr wrap="square" lIns="0" tIns="0" rIns="0" bIns="0" rtlCol="0" anchor="t"/>
          <a:lstStyle/>
          <a:p>
            <a:pPr indent="0" marL="0">
              <a:buNone/>
            </a:pPr>
            <a:r>
              <a:rPr lang="en-US" sz="1400" dirty="0">
                <a:solidFill>
                  <a:schemeClr val="accent4"/>
                </a:solidFill>
              </a:rPr>
              <a:t>recall gain with deep learning</a:t>
            </a:r>
            <a:endParaRPr lang="en-US" sz="1400" dirty="0"/>
          </a:p>
        </p:txBody>
      </p:sp>
      <p:sp>
        <p:nvSpPr>
          <p:cNvPr id="16" name="Text 12"/>
          <p:cNvSpPr txBox="1"/>
          <p:nvPr/>
        </p:nvSpPr>
        <p:spPr>
          <a:xfrm>
            <a:off x="6611112" y="4389120"/>
            <a:ext cx="4663440" cy="822960"/>
          </a:xfrm>
          <a:prstGeom prst="rect">
            <a:avLst/>
          </a:prstGeom>
          <a:noFill/>
          <a:ln/>
        </p:spPr>
        <p:txBody>
          <a:bodyPr wrap="square" lIns="0" tIns="0" rIns="0" bIns="0" rtlCol="0" anchor="t"/>
          <a:lstStyle/>
          <a:p>
            <a:pPr indent="0" marL="0">
              <a:buNone/>
            </a:pPr>
            <a:r>
              <a:rPr lang="en-US" sz="1600" dirty="0">
                <a:solidFill>
                  <a:schemeClr val="bg1"/>
                </a:solidFill>
              </a:rPr>
              <a:t>Crumpling creates false texture micro-gradients, so LBP breaks down.</a:t>
            </a:r>
            <a:endParaRPr lang="en-US" sz="1600" dirty="0"/>
          </a:p>
        </p:txBody>
      </p:sp>
      <p:sp>
        <p:nvSpPr>
          <p:cNvPr id="17" name="Text 13"/>
          <p:cNvSpPr txBox="1"/>
          <p:nvPr/>
        </p:nvSpPr>
        <p:spPr>
          <a:xfrm>
            <a:off x="548640" y="5715000"/>
            <a:ext cx="11064240" cy="457200"/>
          </a:xfrm>
          <a:prstGeom prst="rect">
            <a:avLst/>
          </a:prstGeom>
          <a:noFill/>
          <a:ln/>
        </p:spPr>
        <p:txBody>
          <a:bodyPr wrap="square" lIns="0" tIns="0" rIns="0" bIns="0" rtlCol="0" anchor="t"/>
          <a:lstStyle/>
          <a:p>
            <a:pPr indent="0" marL="0">
              <a:buNone/>
            </a:pPr>
            <a:r>
              <a:rPr lang="en-US" sz="2000" i="1" dirty="0">
                <a:solidFill>
                  <a:schemeClr val="accent2"/>
                </a:solidFill>
              </a:rPr>
              <a:t>The CNN learns invariant spatial hierarchies instead of fixed gradient templates.</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Calibration and selective abstention</a:t>
            </a:r>
            <a:endParaRPr lang="en-US" sz="3400" dirty="0"/>
          </a:p>
        </p:txBody>
      </p:sp>
      <p:graphicFrame>
        <p:nvGraphicFramePr>
          <p:cNvPr id="3" name="Chart 0" descr=""/>
          <p:cNvGraphicFramePr/>
          <p:nvPr/>
        </p:nvGraphicFramePr>
        <p:xfrm>
          <a:off x="548640" y="1371600"/>
          <a:ext cx="5120640" cy="36576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035040" y="1371600"/>
          <a:ext cx="5605272" cy="3657600"/>
        </p:xfrm>
        <a:graphic xmlns:a="http://schemas.openxmlformats.org/drawingml/2006/main">
          <a:graphicData uri="http://schemas.openxmlformats.org/drawingml/2006/chart">
            <c:chart xmlns:c="http://schemas.openxmlformats.org/drawingml/2006/chart" r:id="rId2"/>
          </a:graphicData>
        </a:graphic>
      </p:graphicFrame>
      <p:sp>
        <p:nvSpPr>
          <p:cNvPr id="5" name="abstain strip"/>
          <p:cNvSpPr/>
          <p:nvPr/>
        </p:nvSpPr>
        <p:spPr>
          <a:xfrm>
            <a:off x="548640" y="5257800"/>
            <a:ext cx="11091672" cy="914400"/>
          </a:xfrm>
          <a:prstGeom prst="roundRect">
            <a:avLst>
              <a:gd name="adj" fmla="val 15000"/>
            </a:avLst>
          </a:prstGeom>
          <a:solidFill>
            <a:schemeClr val="tx1"/>
          </a:solidFill>
          <a:ln/>
        </p:spPr>
      </p:sp>
      <p:sp>
        <p:nvSpPr>
          <p:cNvPr id="6" name="Text 2"/>
          <p:cNvSpPr txBox="1"/>
          <p:nvPr/>
        </p:nvSpPr>
        <p:spPr>
          <a:xfrm>
            <a:off x="822960" y="5257800"/>
            <a:ext cx="2103120" cy="914400"/>
          </a:xfrm>
          <a:prstGeom prst="rect">
            <a:avLst/>
          </a:prstGeom>
          <a:noFill/>
          <a:ln/>
        </p:spPr>
        <p:txBody>
          <a:bodyPr wrap="square" lIns="0" tIns="0" rIns="0" bIns="0" rtlCol="0" anchor="ctr"/>
          <a:lstStyle/>
          <a:p>
            <a:pPr indent="0" marL="0">
              <a:buNone/>
            </a:pPr>
            <a:r>
              <a:rPr lang="en-US" sz="4000" b="1" dirty="0">
                <a:solidFill>
                  <a:schemeClr val="accent6"/>
                </a:solidFill>
                <a:latin typeface="Cambria" pitchFamily="34" charset="0"/>
                <a:ea typeface="Cambria" pitchFamily="34" charset="-122"/>
                <a:cs typeface="Cambria" pitchFamily="34" charset="-120"/>
              </a:rPr>
              <a:t>15.87%</a:t>
            </a:r>
            <a:endParaRPr lang="en-US" sz="4000" dirty="0"/>
          </a:p>
        </p:txBody>
      </p:sp>
      <p:sp>
        <p:nvSpPr>
          <p:cNvPr id="7" name="Text 3"/>
          <p:cNvSpPr txBox="1"/>
          <p:nvPr/>
        </p:nvSpPr>
        <p:spPr>
          <a:xfrm>
            <a:off x="3017520" y="5257800"/>
            <a:ext cx="8321040" cy="914400"/>
          </a:xfrm>
          <a:prstGeom prst="rect">
            <a:avLst/>
          </a:prstGeom>
          <a:noFill/>
          <a:ln/>
        </p:spPr>
        <p:txBody>
          <a:bodyPr wrap="square" lIns="0" tIns="0" rIns="0" bIns="0" rtlCol="0" anchor="ctr"/>
          <a:lstStyle/>
          <a:p>
            <a:pPr indent="0" marL="0">
              <a:buNone/>
            </a:pPr>
            <a:r>
              <a:rPr lang="en-US" sz="1600" dirty="0">
                <a:solidFill>
                  <a:schemeClr val="bg1"/>
                </a:solidFill>
              </a:rPr>
              <a:t>of MobileNetV2 predictions fall below τ = 0.60 and go to manual sorting instead of the recycling stream.</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Interactive demo: Gradio prototype</a:t>
            </a:r>
            <a:endParaRPr lang="en-US" sz="3400" dirty="0"/>
          </a:p>
        </p:txBody>
      </p:sp>
      <p:sp>
        <p:nvSpPr>
          <p:cNvPr id="3" name="app frame"/>
          <p:cNvSpPr/>
          <p:nvPr/>
        </p:nvSpPr>
        <p:spPr>
          <a:xfrm>
            <a:off x="548640" y="1463040"/>
            <a:ext cx="6949440" cy="4663440"/>
          </a:xfrm>
          <a:prstGeom prst="roundRect">
            <a:avLst>
              <a:gd name="adj" fmla="val 2941"/>
            </a:avLst>
          </a:prstGeom>
          <a:solidFill>
            <a:schemeClr val="bg2"/>
          </a:solidFill>
          <a:ln/>
        </p:spPr>
      </p:sp>
      <p:sp>
        <p:nvSpPr>
          <p:cNvPr id="4" name="app top bar"/>
          <p:cNvSpPr/>
          <p:nvPr/>
        </p:nvSpPr>
        <p:spPr>
          <a:xfrm>
            <a:off x="548640" y="1463040"/>
            <a:ext cx="6949440" cy="411480"/>
          </a:xfrm>
          <a:prstGeom prst="roundRect">
            <a:avLst>
              <a:gd name="adj" fmla="val 33333"/>
            </a:avLst>
          </a:prstGeom>
          <a:solidFill>
            <a:schemeClr val="tx1"/>
          </a:solidFill>
          <a:ln/>
        </p:spPr>
      </p:sp>
      <p:sp>
        <p:nvSpPr>
          <p:cNvPr id="5" name="Text 3"/>
          <p:cNvSpPr txBox="1"/>
          <p:nvPr/>
        </p:nvSpPr>
        <p:spPr>
          <a:xfrm>
            <a:off x="822960" y="1463040"/>
            <a:ext cx="5943600" cy="411480"/>
          </a:xfrm>
          <a:prstGeom prst="rect">
            <a:avLst/>
          </a:prstGeom>
          <a:noFill/>
          <a:ln/>
        </p:spPr>
        <p:txBody>
          <a:bodyPr wrap="square" lIns="0" tIns="0" rIns="0" bIns="0" rtlCol="0" anchor="ctr"/>
          <a:lstStyle/>
          <a:p>
            <a:pPr indent="0" marL="0">
              <a:buNone/>
            </a:pPr>
            <a:r>
              <a:rPr lang="en-US" sz="1200" dirty="0">
                <a:solidFill>
                  <a:schemeClr val="bg1"/>
                </a:solidFill>
              </a:rPr>
              <a:t>Gradio prototype (schematic)</a:t>
            </a:r>
            <a:endParaRPr lang="en-US" sz="1200" dirty="0"/>
          </a:p>
        </p:txBody>
      </p:sp>
      <p:sp>
        <p:nvSpPr>
          <p:cNvPr id="6" name="Classical AML panel"/>
          <p:cNvSpPr/>
          <p:nvPr/>
        </p:nvSpPr>
        <p:spPr>
          <a:xfrm>
            <a:off x="777240" y="2057400"/>
            <a:ext cx="3108960" cy="2423160"/>
          </a:xfrm>
          <a:prstGeom prst="roundRect">
            <a:avLst>
              <a:gd name="adj" fmla="val 5660"/>
            </a:avLst>
          </a:prstGeom>
          <a:solidFill>
            <a:schemeClr val="bg1"/>
          </a:solidFill>
          <a:ln/>
        </p:spPr>
      </p:sp>
      <p:sp>
        <p:nvSpPr>
          <p:cNvPr id="7" name="Text 5"/>
          <p:cNvSpPr txBox="1"/>
          <p:nvPr/>
        </p:nvSpPr>
        <p:spPr>
          <a:xfrm>
            <a:off x="960120" y="2167128"/>
            <a:ext cx="2743200" cy="274320"/>
          </a:xfrm>
          <a:prstGeom prst="rect">
            <a:avLst/>
          </a:prstGeom>
          <a:noFill/>
          <a:ln/>
        </p:spPr>
        <p:txBody>
          <a:bodyPr wrap="square" lIns="0" tIns="0" rIns="0" bIns="0" rtlCol="0" anchor="t"/>
          <a:lstStyle/>
          <a:p>
            <a:pPr indent="0" marL="0">
              <a:buNone/>
            </a:pPr>
            <a:r>
              <a:rPr lang="en-US" sz="1400" b="1" dirty="0">
                <a:solidFill>
                  <a:schemeClr val="tx1"/>
                </a:solidFill>
              </a:rPr>
              <a:t>Classical AML</a:t>
            </a:r>
            <a:endParaRPr lang="en-US" sz="1400" dirty="0"/>
          </a:p>
        </p:txBody>
      </p:sp>
      <p:sp>
        <p:nvSpPr>
          <p:cNvPr id="8" name="image slot Classical AML"/>
          <p:cNvSpPr/>
          <p:nvPr/>
        </p:nvSpPr>
        <p:spPr>
          <a:xfrm>
            <a:off x="960120" y="2514600"/>
            <a:ext cx="2743200" cy="822960"/>
          </a:xfrm>
          <a:prstGeom prst="roundRect">
            <a:avLst>
              <a:gd name="adj" fmla="val 16667"/>
            </a:avLst>
          </a:prstGeom>
          <a:solidFill>
            <a:schemeClr val="accent4"/>
          </a:solidFill>
          <a:ln/>
        </p:spPr>
      </p:sp>
      <p:pic>
        <p:nvPicPr>
          <p:cNvPr id="9" name="Image 0" descr="camera icon">    </p:cNvPr>
          <p:cNvPicPr>
            <a:picLocks noChangeAspect="1"/>
          </p:cNvPicPr>
          <p:nvPr/>
        </p:nvPicPr>
        <p:blipFill>
          <a:blip r:embed="rId1"/>
          <a:stretch>
            <a:fillRect/>
          </a:stretch>
        </p:blipFill>
        <p:spPr>
          <a:xfrm>
            <a:off x="2148840" y="2743200"/>
            <a:ext cx="365760" cy="365760"/>
          </a:xfrm>
          <a:prstGeom prst="rect">
            <a:avLst/>
          </a:prstGeom>
        </p:spPr>
      </p:pic>
      <p:sp>
        <p:nvSpPr>
          <p:cNvPr id="10" name="meter track"/>
          <p:cNvSpPr/>
          <p:nvPr/>
        </p:nvSpPr>
        <p:spPr>
          <a:xfrm>
            <a:off x="960120" y="3520440"/>
            <a:ext cx="2743200" cy="182880"/>
          </a:xfrm>
          <a:prstGeom prst="roundRect">
            <a:avLst>
              <a:gd name="adj" fmla="val 40000"/>
            </a:avLst>
          </a:prstGeom>
          <a:solidFill>
            <a:schemeClr val="bg2"/>
          </a:solidFill>
          <a:ln/>
        </p:spPr>
      </p:sp>
      <p:sp>
        <p:nvSpPr>
          <p:cNvPr id="11" name="meter fill"/>
          <p:cNvSpPr/>
          <p:nvPr/>
        </p:nvSpPr>
        <p:spPr>
          <a:xfrm>
            <a:off x="960120" y="3520440"/>
            <a:ext cx="2331720" cy="182880"/>
          </a:xfrm>
          <a:prstGeom prst="roundRect">
            <a:avLst>
              <a:gd name="adj" fmla="val 40000"/>
            </a:avLst>
          </a:prstGeom>
          <a:solidFill>
            <a:schemeClr val="accent2"/>
          </a:solidFill>
          <a:ln/>
        </p:spPr>
      </p:sp>
      <p:sp>
        <p:nvSpPr>
          <p:cNvPr id="12" name="meter track"/>
          <p:cNvSpPr/>
          <p:nvPr/>
        </p:nvSpPr>
        <p:spPr>
          <a:xfrm>
            <a:off x="960120" y="3822192"/>
            <a:ext cx="2743200" cy="182880"/>
          </a:xfrm>
          <a:prstGeom prst="roundRect">
            <a:avLst>
              <a:gd name="adj" fmla="val 40000"/>
            </a:avLst>
          </a:prstGeom>
          <a:solidFill>
            <a:schemeClr val="bg2"/>
          </a:solidFill>
          <a:ln/>
        </p:spPr>
      </p:sp>
      <p:sp>
        <p:nvSpPr>
          <p:cNvPr id="13" name="meter fill"/>
          <p:cNvSpPr/>
          <p:nvPr/>
        </p:nvSpPr>
        <p:spPr>
          <a:xfrm>
            <a:off x="960120" y="3822192"/>
            <a:ext cx="1282446" cy="182880"/>
          </a:xfrm>
          <a:prstGeom prst="roundRect">
            <a:avLst>
              <a:gd name="adj" fmla="val 40000"/>
            </a:avLst>
          </a:prstGeom>
          <a:solidFill>
            <a:schemeClr val="accent2"/>
          </a:solidFill>
          <a:ln/>
        </p:spPr>
      </p:sp>
      <p:sp>
        <p:nvSpPr>
          <p:cNvPr id="14" name="meter track"/>
          <p:cNvSpPr/>
          <p:nvPr/>
        </p:nvSpPr>
        <p:spPr>
          <a:xfrm>
            <a:off x="960120" y="4123944"/>
            <a:ext cx="2743200" cy="182880"/>
          </a:xfrm>
          <a:prstGeom prst="roundRect">
            <a:avLst>
              <a:gd name="adj" fmla="val 40000"/>
            </a:avLst>
          </a:prstGeom>
          <a:solidFill>
            <a:schemeClr val="bg2"/>
          </a:solidFill>
          <a:ln/>
        </p:spPr>
      </p:sp>
      <p:sp>
        <p:nvSpPr>
          <p:cNvPr id="15" name="meter fill"/>
          <p:cNvSpPr/>
          <p:nvPr/>
        </p:nvSpPr>
        <p:spPr>
          <a:xfrm>
            <a:off x="960120" y="4123944"/>
            <a:ext cx="699516" cy="182880"/>
          </a:xfrm>
          <a:prstGeom prst="roundRect">
            <a:avLst>
              <a:gd name="adj" fmla="val 40000"/>
            </a:avLst>
          </a:prstGeom>
          <a:solidFill>
            <a:schemeClr val="accent2"/>
          </a:solidFill>
          <a:ln/>
        </p:spPr>
      </p:sp>
      <p:sp>
        <p:nvSpPr>
          <p:cNvPr id="16" name="MobileNetV2 panel"/>
          <p:cNvSpPr/>
          <p:nvPr/>
        </p:nvSpPr>
        <p:spPr>
          <a:xfrm>
            <a:off x="4087368" y="2057400"/>
            <a:ext cx="3108960" cy="2423160"/>
          </a:xfrm>
          <a:prstGeom prst="roundRect">
            <a:avLst>
              <a:gd name="adj" fmla="val 5660"/>
            </a:avLst>
          </a:prstGeom>
          <a:solidFill>
            <a:schemeClr val="bg1"/>
          </a:solidFill>
          <a:ln/>
        </p:spPr>
      </p:sp>
      <p:sp>
        <p:nvSpPr>
          <p:cNvPr id="17" name="Text 14"/>
          <p:cNvSpPr txBox="1"/>
          <p:nvPr/>
        </p:nvSpPr>
        <p:spPr>
          <a:xfrm>
            <a:off x="4270248" y="2167128"/>
            <a:ext cx="2743200" cy="274320"/>
          </a:xfrm>
          <a:prstGeom prst="rect">
            <a:avLst/>
          </a:prstGeom>
          <a:noFill/>
          <a:ln/>
        </p:spPr>
        <p:txBody>
          <a:bodyPr wrap="square" lIns="0" tIns="0" rIns="0" bIns="0" rtlCol="0" anchor="t"/>
          <a:lstStyle/>
          <a:p>
            <a:pPr indent="0" marL="0">
              <a:buNone/>
            </a:pPr>
            <a:r>
              <a:rPr lang="en-US" sz="1400" b="1" dirty="0">
                <a:solidFill>
                  <a:schemeClr val="tx1"/>
                </a:solidFill>
              </a:rPr>
              <a:t>MobileNetV2</a:t>
            </a:r>
            <a:endParaRPr lang="en-US" sz="1400" dirty="0"/>
          </a:p>
        </p:txBody>
      </p:sp>
      <p:sp>
        <p:nvSpPr>
          <p:cNvPr id="18" name="image slot MobileNetV2"/>
          <p:cNvSpPr/>
          <p:nvPr/>
        </p:nvSpPr>
        <p:spPr>
          <a:xfrm>
            <a:off x="4270248" y="2514600"/>
            <a:ext cx="2743200" cy="822960"/>
          </a:xfrm>
          <a:prstGeom prst="roundRect">
            <a:avLst>
              <a:gd name="adj" fmla="val 16667"/>
            </a:avLst>
          </a:prstGeom>
          <a:solidFill>
            <a:schemeClr val="accent4"/>
          </a:solidFill>
          <a:ln/>
        </p:spPr>
      </p:sp>
      <p:pic>
        <p:nvPicPr>
          <p:cNvPr id="19" name="Image 1" descr="camera icon">    </p:cNvPr>
          <p:cNvPicPr>
            <a:picLocks noChangeAspect="1"/>
          </p:cNvPicPr>
          <p:nvPr/>
        </p:nvPicPr>
        <p:blipFill>
          <a:blip r:embed="rId2"/>
          <a:stretch>
            <a:fillRect/>
          </a:stretch>
        </p:blipFill>
        <p:spPr>
          <a:xfrm>
            <a:off x="5458968" y="2743200"/>
            <a:ext cx="365760" cy="365760"/>
          </a:xfrm>
          <a:prstGeom prst="rect">
            <a:avLst/>
          </a:prstGeom>
        </p:spPr>
      </p:pic>
      <p:sp>
        <p:nvSpPr>
          <p:cNvPr id="20" name="meter track"/>
          <p:cNvSpPr/>
          <p:nvPr/>
        </p:nvSpPr>
        <p:spPr>
          <a:xfrm>
            <a:off x="4270248" y="3520440"/>
            <a:ext cx="2743200" cy="182880"/>
          </a:xfrm>
          <a:prstGeom prst="roundRect">
            <a:avLst>
              <a:gd name="adj" fmla="val 40000"/>
            </a:avLst>
          </a:prstGeom>
          <a:solidFill>
            <a:schemeClr val="bg2"/>
          </a:solidFill>
          <a:ln/>
        </p:spPr>
      </p:sp>
      <p:sp>
        <p:nvSpPr>
          <p:cNvPr id="21" name="meter fill"/>
          <p:cNvSpPr/>
          <p:nvPr/>
        </p:nvSpPr>
        <p:spPr>
          <a:xfrm>
            <a:off x="4270248" y="3520440"/>
            <a:ext cx="2743200" cy="182880"/>
          </a:xfrm>
          <a:prstGeom prst="roundRect">
            <a:avLst>
              <a:gd name="adj" fmla="val 40000"/>
            </a:avLst>
          </a:prstGeom>
          <a:solidFill>
            <a:schemeClr val="accent1"/>
          </a:solidFill>
          <a:ln/>
        </p:spPr>
      </p:sp>
      <p:sp>
        <p:nvSpPr>
          <p:cNvPr id="22" name="meter track"/>
          <p:cNvSpPr/>
          <p:nvPr/>
        </p:nvSpPr>
        <p:spPr>
          <a:xfrm>
            <a:off x="4270248" y="3822192"/>
            <a:ext cx="2743200" cy="182880"/>
          </a:xfrm>
          <a:prstGeom prst="roundRect">
            <a:avLst>
              <a:gd name="adj" fmla="val 40000"/>
            </a:avLst>
          </a:prstGeom>
          <a:solidFill>
            <a:schemeClr val="bg2"/>
          </a:solidFill>
          <a:ln/>
        </p:spPr>
      </p:sp>
      <p:sp>
        <p:nvSpPr>
          <p:cNvPr id="23" name="meter fill"/>
          <p:cNvSpPr/>
          <p:nvPr/>
        </p:nvSpPr>
        <p:spPr>
          <a:xfrm>
            <a:off x="4270248" y="3822192"/>
            <a:ext cx="1508760" cy="182880"/>
          </a:xfrm>
          <a:prstGeom prst="roundRect">
            <a:avLst>
              <a:gd name="adj" fmla="val 40000"/>
            </a:avLst>
          </a:prstGeom>
          <a:solidFill>
            <a:schemeClr val="accent1"/>
          </a:solidFill>
          <a:ln/>
        </p:spPr>
      </p:sp>
      <p:sp>
        <p:nvSpPr>
          <p:cNvPr id="24" name="meter track"/>
          <p:cNvSpPr/>
          <p:nvPr/>
        </p:nvSpPr>
        <p:spPr>
          <a:xfrm>
            <a:off x="4270248" y="4123944"/>
            <a:ext cx="2743200" cy="182880"/>
          </a:xfrm>
          <a:prstGeom prst="roundRect">
            <a:avLst>
              <a:gd name="adj" fmla="val 40000"/>
            </a:avLst>
          </a:prstGeom>
          <a:solidFill>
            <a:schemeClr val="bg2"/>
          </a:solidFill>
          <a:ln/>
        </p:spPr>
      </p:sp>
      <p:sp>
        <p:nvSpPr>
          <p:cNvPr id="25" name="meter fill"/>
          <p:cNvSpPr/>
          <p:nvPr/>
        </p:nvSpPr>
        <p:spPr>
          <a:xfrm>
            <a:off x="4270248" y="4123944"/>
            <a:ext cx="822960" cy="182880"/>
          </a:xfrm>
          <a:prstGeom prst="roundRect">
            <a:avLst>
              <a:gd name="adj" fmla="val 40000"/>
            </a:avLst>
          </a:prstGeom>
          <a:solidFill>
            <a:schemeClr val="accent1"/>
          </a:solidFill>
          <a:ln/>
        </p:spPr>
      </p:sp>
      <p:sp>
        <p:nvSpPr>
          <p:cNvPr id="26" name="warning banner"/>
          <p:cNvSpPr/>
          <p:nvPr/>
        </p:nvSpPr>
        <p:spPr>
          <a:xfrm>
            <a:off x="777240" y="4617720"/>
            <a:ext cx="6492240" cy="548640"/>
          </a:xfrm>
          <a:prstGeom prst="roundRect">
            <a:avLst>
              <a:gd name="adj" fmla="val 25000"/>
            </a:avLst>
          </a:prstGeom>
          <a:solidFill>
            <a:schemeClr val="accent2"/>
          </a:solidFill>
          <a:ln/>
        </p:spPr>
      </p:sp>
      <p:sp>
        <p:nvSpPr>
          <p:cNvPr id="27" name="Text 23"/>
          <p:cNvSpPr txBox="1"/>
          <p:nvPr/>
        </p:nvSpPr>
        <p:spPr>
          <a:xfrm>
            <a:off x="960120" y="4617720"/>
            <a:ext cx="6126480" cy="548640"/>
          </a:xfrm>
          <a:prstGeom prst="rect">
            <a:avLst/>
          </a:prstGeom>
          <a:noFill/>
          <a:ln/>
        </p:spPr>
        <p:txBody>
          <a:bodyPr wrap="square" lIns="0" tIns="0" rIns="0" bIns="0" rtlCol="0" anchor="ctr"/>
          <a:lstStyle/>
          <a:p>
            <a:pPr indent="0" marL="0">
              <a:buNone/>
            </a:pPr>
            <a:r>
              <a:rPr lang="en-US" sz="1400" b="1" dirty="0">
                <a:solidFill>
                  <a:schemeClr val="tx1"/>
                </a:solidFill>
              </a:rPr>
              <a:t>Low confidence (below τ = 0.60): send to manual sorting</a:t>
            </a:r>
            <a:endParaRPr lang="en-US" sz="1400" dirty="0"/>
          </a:p>
        </p:txBody>
      </p:sp>
      <p:sp>
        <p:nvSpPr>
          <p:cNvPr id="28" name="disposal note"/>
          <p:cNvSpPr/>
          <p:nvPr/>
        </p:nvSpPr>
        <p:spPr>
          <a:xfrm>
            <a:off x="777240" y="5303520"/>
            <a:ext cx="6492240" cy="640080"/>
          </a:xfrm>
          <a:prstGeom prst="roundRect">
            <a:avLst>
              <a:gd name="adj" fmla="val 21429"/>
            </a:avLst>
          </a:prstGeom>
          <a:solidFill>
            <a:schemeClr val="bg1"/>
          </a:solidFill>
          <a:ln/>
        </p:spPr>
      </p:sp>
      <p:sp>
        <p:nvSpPr>
          <p:cNvPr id="29" name="Text 25"/>
          <p:cNvSpPr txBox="1"/>
          <p:nvPr/>
        </p:nvSpPr>
        <p:spPr>
          <a:xfrm>
            <a:off x="960120" y="5303520"/>
            <a:ext cx="6126480" cy="640080"/>
          </a:xfrm>
          <a:prstGeom prst="rect">
            <a:avLst/>
          </a:prstGeom>
          <a:noFill/>
          <a:ln/>
        </p:spPr>
        <p:txBody>
          <a:bodyPr wrap="square" lIns="0" tIns="0" rIns="0" bIns="0" rtlCol="0" anchor="ctr"/>
          <a:lstStyle/>
          <a:p>
            <a:pPr indent="0" marL="0">
              <a:buNone/>
            </a:pPr>
            <a:r>
              <a:rPr lang="en-US" sz="1400" dirty="0">
                <a:solidFill>
                  <a:schemeClr val="tx2"/>
                </a:solidFill>
              </a:rPr>
              <a:t>Municipal disposal context note</a:t>
            </a:r>
            <a:endParaRPr lang="en-US" sz="1400" dirty="0"/>
          </a:p>
        </p:txBody>
      </p:sp>
      <p:sp>
        <p:nvSpPr>
          <p:cNvPr id="30" name="step 1"/>
          <p:cNvSpPr/>
          <p:nvPr/>
        </p:nvSpPr>
        <p:spPr>
          <a:xfrm>
            <a:off x="7955280" y="1554480"/>
            <a:ext cx="548640" cy="548640"/>
          </a:xfrm>
          <a:prstGeom prst="ellipse">
            <a:avLst/>
          </a:prstGeom>
          <a:solidFill>
            <a:schemeClr val="accent1"/>
          </a:solidFill>
          <a:ln/>
        </p:spPr>
      </p:sp>
      <p:sp>
        <p:nvSpPr>
          <p:cNvPr id="31" name="Text 27"/>
          <p:cNvSpPr txBox="1"/>
          <p:nvPr/>
        </p:nvSpPr>
        <p:spPr>
          <a:xfrm>
            <a:off x="7955280" y="1554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32" name="Text 28"/>
          <p:cNvSpPr txBox="1"/>
          <p:nvPr/>
        </p:nvSpPr>
        <p:spPr>
          <a:xfrm>
            <a:off x="8732520" y="1508760"/>
            <a:ext cx="2926080" cy="320040"/>
          </a:xfrm>
          <a:prstGeom prst="rect">
            <a:avLst/>
          </a:prstGeom>
          <a:noFill/>
          <a:ln/>
        </p:spPr>
        <p:txBody>
          <a:bodyPr wrap="square" lIns="0" tIns="0" rIns="0" bIns="0" rtlCol="0" anchor="t"/>
          <a:lstStyle/>
          <a:p>
            <a:pPr indent="0" marL="0">
              <a:buNone/>
            </a:pPr>
            <a:r>
              <a:rPr lang="en-US" sz="1800" b="1" dirty="0">
                <a:solidFill>
                  <a:schemeClr val="tx1"/>
                </a:solidFill>
              </a:rPr>
              <a:t>Side-by-side inference</a:t>
            </a:r>
            <a:endParaRPr lang="en-US" sz="1800" dirty="0"/>
          </a:p>
        </p:txBody>
      </p:sp>
      <p:sp>
        <p:nvSpPr>
          <p:cNvPr id="33" name="Text 29"/>
          <p:cNvSpPr txBox="1"/>
          <p:nvPr/>
        </p:nvSpPr>
        <p:spPr>
          <a:xfrm>
            <a:off x="8732520" y="1874520"/>
            <a:ext cx="2926080" cy="548640"/>
          </a:xfrm>
          <a:prstGeom prst="rect">
            <a:avLst/>
          </a:prstGeom>
          <a:noFill/>
          <a:ln/>
        </p:spPr>
        <p:txBody>
          <a:bodyPr wrap="square" lIns="0" tIns="0" rIns="0" bIns="0" rtlCol="0" anchor="t"/>
          <a:lstStyle/>
          <a:p>
            <a:pPr indent="0" marL="0">
              <a:buNone/>
            </a:pPr>
            <a:r>
              <a:rPr lang="en-US" sz="1400" dirty="0">
                <a:solidFill>
                  <a:schemeClr val="tx2"/>
                </a:solidFill>
              </a:rPr>
              <a:t>Classical AML next to MobileNetV2.</a:t>
            </a:r>
            <a:endParaRPr lang="en-US" sz="1400" dirty="0"/>
          </a:p>
        </p:txBody>
      </p:sp>
      <p:sp>
        <p:nvSpPr>
          <p:cNvPr id="34" name="step 2"/>
          <p:cNvSpPr/>
          <p:nvPr/>
        </p:nvSpPr>
        <p:spPr>
          <a:xfrm>
            <a:off x="7955280" y="2743200"/>
            <a:ext cx="548640" cy="548640"/>
          </a:xfrm>
          <a:prstGeom prst="ellipse">
            <a:avLst/>
          </a:prstGeom>
          <a:solidFill>
            <a:schemeClr val="accent1"/>
          </a:solidFill>
          <a:ln/>
        </p:spPr>
      </p:sp>
      <p:sp>
        <p:nvSpPr>
          <p:cNvPr id="35" name="Text 31"/>
          <p:cNvSpPr txBox="1"/>
          <p:nvPr/>
        </p:nvSpPr>
        <p:spPr>
          <a:xfrm>
            <a:off x="7955280" y="2743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36" name="Text 32"/>
          <p:cNvSpPr txBox="1"/>
          <p:nvPr/>
        </p:nvSpPr>
        <p:spPr>
          <a:xfrm>
            <a:off x="8732520" y="2697480"/>
            <a:ext cx="2926080" cy="320040"/>
          </a:xfrm>
          <a:prstGeom prst="rect">
            <a:avLst/>
          </a:prstGeom>
          <a:noFill/>
          <a:ln/>
        </p:spPr>
        <p:txBody>
          <a:bodyPr wrap="square" lIns="0" tIns="0" rIns="0" bIns="0" rtlCol="0" anchor="t"/>
          <a:lstStyle/>
          <a:p>
            <a:pPr indent="0" marL="0">
              <a:buNone/>
            </a:pPr>
            <a:r>
              <a:rPr lang="en-US" sz="1800" b="1" dirty="0">
                <a:solidFill>
                  <a:schemeClr val="tx1"/>
                </a:solidFill>
              </a:rPr>
              <a:t>Calibrated probability meters</a:t>
            </a:r>
            <a:endParaRPr lang="en-US" sz="1800" dirty="0"/>
          </a:p>
        </p:txBody>
      </p:sp>
      <p:sp>
        <p:nvSpPr>
          <p:cNvPr id="37" name="Text 33"/>
          <p:cNvSpPr txBox="1"/>
          <p:nvPr/>
        </p:nvSpPr>
        <p:spPr>
          <a:xfrm>
            <a:off x="8732520" y="3063240"/>
            <a:ext cx="2926080" cy="548640"/>
          </a:xfrm>
          <a:prstGeom prst="rect">
            <a:avLst/>
          </a:prstGeom>
          <a:noFill/>
          <a:ln/>
        </p:spPr>
        <p:txBody>
          <a:bodyPr wrap="square" lIns="0" tIns="0" rIns="0" bIns="0" rtlCol="0" anchor="t"/>
          <a:lstStyle/>
          <a:p>
            <a:pPr indent="0" marL="0">
              <a:buNone/>
            </a:pPr>
            <a:r>
              <a:rPr lang="en-US" sz="1400" dirty="0">
                <a:solidFill>
                  <a:schemeClr val="tx2"/>
                </a:solidFill>
              </a:rPr>
              <a:t>One bar per waste class.</a:t>
            </a:r>
            <a:endParaRPr lang="en-US" sz="1400" dirty="0"/>
          </a:p>
        </p:txBody>
      </p:sp>
      <p:sp>
        <p:nvSpPr>
          <p:cNvPr id="38" name="step 3"/>
          <p:cNvSpPr/>
          <p:nvPr/>
        </p:nvSpPr>
        <p:spPr>
          <a:xfrm>
            <a:off x="7955280" y="3931920"/>
            <a:ext cx="548640" cy="548640"/>
          </a:xfrm>
          <a:prstGeom prst="ellipse">
            <a:avLst/>
          </a:prstGeom>
          <a:solidFill>
            <a:schemeClr val="accent1"/>
          </a:solidFill>
          <a:ln/>
        </p:spPr>
      </p:sp>
      <p:sp>
        <p:nvSpPr>
          <p:cNvPr id="39" name="Text 35"/>
          <p:cNvSpPr txBox="1"/>
          <p:nvPr/>
        </p:nvSpPr>
        <p:spPr>
          <a:xfrm>
            <a:off x="7955280" y="3931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40" name="Text 36"/>
          <p:cNvSpPr txBox="1"/>
          <p:nvPr/>
        </p:nvSpPr>
        <p:spPr>
          <a:xfrm>
            <a:off x="8732520" y="3886200"/>
            <a:ext cx="2926080" cy="320040"/>
          </a:xfrm>
          <a:prstGeom prst="rect">
            <a:avLst/>
          </a:prstGeom>
          <a:noFill/>
          <a:ln/>
        </p:spPr>
        <p:txBody>
          <a:bodyPr wrap="square" lIns="0" tIns="0" rIns="0" bIns="0" rtlCol="0" anchor="t"/>
          <a:lstStyle/>
          <a:p>
            <a:pPr indent="0" marL="0">
              <a:buNone/>
            </a:pPr>
            <a:r>
              <a:rPr lang="en-US" sz="1800" b="1" dirty="0">
                <a:solidFill>
                  <a:schemeClr val="tx1"/>
                </a:solidFill>
              </a:rPr>
              <a:t>Safety banner</a:t>
            </a:r>
            <a:endParaRPr lang="en-US" sz="1800" dirty="0"/>
          </a:p>
        </p:txBody>
      </p:sp>
      <p:sp>
        <p:nvSpPr>
          <p:cNvPr id="41" name="Text 37"/>
          <p:cNvSpPr txBox="1"/>
          <p:nvPr/>
        </p:nvSpPr>
        <p:spPr>
          <a:xfrm>
            <a:off x="8732520" y="4251960"/>
            <a:ext cx="2926080" cy="548640"/>
          </a:xfrm>
          <a:prstGeom prst="rect">
            <a:avLst/>
          </a:prstGeom>
          <a:noFill/>
          <a:ln/>
        </p:spPr>
        <p:txBody>
          <a:bodyPr wrap="square" lIns="0" tIns="0" rIns="0" bIns="0" rtlCol="0" anchor="t"/>
          <a:lstStyle/>
          <a:p>
            <a:pPr indent="0" marL="0">
              <a:buNone/>
            </a:pPr>
            <a:r>
              <a:rPr lang="en-US" sz="1400" dirty="0">
                <a:solidFill>
                  <a:schemeClr val="tx2"/>
                </a:solidFill>
              </a:rPr>
              <a:t>Warns when confidence falls under the threshold.</a:t>
            </a:r>
            <a:endParaRPr lang="en-US" sz="1400" dirty="0"/>
          </a:p>
        </p:txBody>
      </p:sp>
      <p:sp>
        <p:nvSpPr>
          <p:cNvPr id="42" name="step 4"/>
          <p:cNvSpPr/>
          <p:nvPr/>
        </p:nvSpPr>
        <p:spPr>
          <a:xfrm>
            <a:off x="7955280" y="5120640"/>
            <a:ext cx="548640" cy="548640"/>
          </a:xfrm>
          <a:prstGeom prst="ellipse">
            <a:avLst/>
          </a:prstGeom>
          <a:solidFill>
            <a:schemeClr val="accent1"/>
          </a:solidFill>
          <a:ln/>
        </p:spPr>
      </p:sp>
      <p:sp>
        <p:nvSpPr>
          <p:cNvPr id="43" name="Text 39"/>
          <p:cNvSpPr txBox="1"/>
          <p:nvPr/>
        </p:nvSpPr>
        <p:spPr>
          <a:xfrm>
            <a:off x="7955280" y="5120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44" name="Text 40"/>
          <p:cNvSpPr txBox="1"/>
          <p:nvPr/>
        </p:nvSpPr>
        <p:spPr>
          <a:xfrm>
            <a:off x="8732520" y="5074920"/>
            <a:ext cx="2926080" cy="320040"/>
          </a:xfrm>
          <a:prstGeom prst="rect">
            <a:avLst/>
          </a:prstGeom>
          <a:noFill/>
          <a:ln/>
        </p:spPr>
        <p:txBody>
          <a:bodyPr wrap="square" lIns="0" tIns="0" rIns="0" bIns="0" rtlCol="0" anchor="t"/>
          <a:lstStyle/>
          <a:p>
            <a:pPr indent="0" marL="0">
              <a:buNone/>
            </a:pPr>
            <a:r>
              <a:rPr lang="en-US" sz="1800" b="1" dirty="0">
                <a:solidFill>
                  <a:schemeClr val="tx1"/>
                </a:solidFill>
              </a:rPr>
              <a:t>Disposal context</a:t>
            </a:r>
            <a:endParaRPr lang="en-US" sz="1800" dirty="0"/>
          </a:p>
        </p:txBody>
      </p:sp>
      <p:sp>
        <p:nvSpPr>
          <p:cNvPr id="45" name="Text 41"/>
          <p:cNvSpPr txBox="1"/>
          <p:nvPr/>
        </p:nvSpPr>
        <p:spPr>
          <a:xfrm>
            <a:off x="8732520" y="5440680"/>
            <a:ext cx="2926080" cy="548640"/>
          </a:xfrm>
          <a:prstGeom prst="rect">
            <a:avLst/>
          </a:prstGeom>
          <a:noFill/>
          <a:ln/>
        </p:spPr>
        <p:txBody>
          <a:bodyPr wrap="square" lIns="0" tIns="0" rIns="0" bIns="0" rtlCol="0" anchor="t"/>
          <a:lstStyle/>
          <a:p>
            <a:pPr indent="0" marL="0">
              <a:buNone/>
            </a:pPr>
            <a:r>
              <a:rPr lang="en-US" sz="1400" dirty="0">
                <a:solidFill>
                  <a:schemeClr val="tx2"/>
                </a:solidFill>
              </a:rPr>
              <a:t>Educational municipal sorting note.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bg1"/>
                </a:solidFill>
              </a:rPr>
              <a:t>Conclusion and future scope</a:t>
            </a:r>
            <a:endParaRPr lang="en-US" sz="3400" dirty="0"/>
          </a:p>
        </p:txBody>
      </p:sp>
      <p:sp>
        <p:nvSpPr>
          <p:cNvPr id="3" name="takeaway 1"/>
          <p:cNvSpPr/>
          <p:nvPr/>
        </p:nvSpPr>
        <p:spPr>
          <a:xfrm>
            <a:off x="548640" y="1508760"/>
            <a:ext cx="3593592" cy="3383280"/>
          </a:xfrm>
          <a:prstGeom prst="roundRect">
            <a:avLst>
              <a:gd name="adj" fmla="val 4054"/>
            </a:avLst>
          </a:prstGeom>
          <a:solidFill>
            <a:schemeClr val="accent3"/>
          </a:solidFill>
          <a:ln/>
        </p:spPr>
      </p:sp>
      <p:sp>
        <p:nvSpPr>
          <p:cNvPr id="4" name="Text 2"/>
          <p:cNvSpPr txBox="1"/>
          <p:nvPr/>
        </p:nvSpPr>
        <p:spPr>
          <a:xfrm>
            <a:off x="868680" y="1783080"/>
            <a:ext cx="3017520" cy="914400"/>
          </a:xfrm>
          <a:prstGeom prst="rect">
            <a:avLst/>
          </a:prstGeom>
          <a:noFill/>
          <a:ln/>
        </p:spPr>
        <p:txBody>
          <a:bodyPr wrap="square" lIns="0" tIns="0" rIns="0" bIns="0" rtlCol="0" anchor="t"/>
          <a:lstStyle/>
          <a:p>
            <a:pPr indent="0" marL="0">
              <a:buNone/>
            </a:pPr>
            <a:r>
              <a:rPr lang="en-US" sz="4800" b="1" dirty="0">
                <a:solidFill>
                  <a:schemeClr val="accent6"/>
                </a:solidFill>
                <a:latin typeface="Cambria" pitchFamily="34" charset="0"/>
                <a:ea typeface="Cambria" pitchFamily="34" charset="-122"/>
                <a:cs typeface="Cambria" pitchFamily="34" charset="-120"/>
              </a:rPr>
              <a:t>84.39%</a:t>
            </a:r>
            <a:endParaRPr lang="en-US" sz="4800" dirty="0"/>
          </a:p>
        </p:txBody>
      </p:sp>
      <p:sp>
        <p:nvSpPr>
          <p:cNvPr id="5" name="Text 3"/>
          <p:cNvSpPr txBox="1"/>
          <p:nvPr/>
        </p:nvSpPr>
        <p:spPr>
          <a:xfrm>
            <a:off x="868680" y="2834640"/>
            <a:ext cx="3017520" cy="1920240"/>
          </a:xfrm>
          <a:prstGeom prst="rect">
            <a:avLst/>
          </a:prstGeom>
          <a:noFill/>
          <a:ln/>
        </p:spPr>
        <p:txBody>
          <a:bodyPr wrap="square" lIns="0" tIns="0" rIns="0" bIns="0" rtlCol="0" anchor="t"/>
          <a:lstStyle/>
          <a:p>
            <a:pPr indent="0" marL="0">
              <a:buNone/>
            </a:pPr>
            <a:r>
              <a:rPr lang="en-US" sz="1800" dirty="0">
                <a:solidFill>
                  <a:schemeClr val="bg1"/>
                </a:solidFill>
              </a:rPr>
              <a:t>MobileNetV2 accuracy vs. 74.87% for the best classical model: hierarchical features beat hand-crafted descriptors on deformed waste.</a:t>
            </a:r>
            <a:endParaRPr lang="en-US" sz="1800" dirty="0"/>
          </a:p>
        </p:txBody>
      </p:sp>
      <p:sp>
        <p:nvSpPr>
          <p:cNvPr id="6" name="takeaway 2"/>
          <p:cNvSpPr/>
          <p:nvPr/>
        </p:nvSpPr>
        <p:spPr>
          <a:xfrm>
            <a:off x="4297680" y="1508760"/>
            <a:ext cx="3593592" cy="3383280"/>
          </a:xfrm>
          <a:prstGeom prst="roundRect">
            <a:avLst>
              <a:gd name="adj" fmla="val 4054"/>
            </a:avLst>
          </a:prstGeom>
          <a:solidFill>
            <a:schemeClr val="accent3"/>
          </a:solidFill>
          <a:ln/>
        </p:spPr>
      </p:sp>
      <p:sp>
        <p:nvSpPr>
          <p:cNvPr id="7" name="Text 5"/>
          <p:cNvSpPr txBox="1"/>
          <p:nvPr/>
        </p:nvSpPr>
        <p:spPr>
          <a:xfrm>
            <a:off x="4617720" y="1783080"/>
            <a:ext cx="3017520" cy="914400"/>
          </a:xfrm>
          <a:prstGeom prst="rect">
            <a:avLst/>
          </a:prstGeom>
          <a:noFill/>
          <a:ln/>
        </p:spPr>
        <p:txBody>
          <a:bodyPr wrap="square" lIns="0" tIns="0" rIns="0" bIns="0" rtlCol="0" anchor="t"/>
          <a:lstStyle/>
          <a:p>
            <a:pPr indent="0" marL="0">
              <a:buNone/>
            </a:pPr>
            <a:r>
              <a:rPr lang="en-US" sz="4800" b="1" dirty="0">
                <a:solidFill>
                  <a:schemeClr val="accent6"/>
                </a:solidFill>
                <a:latin typeface="Cambria" pitchFamily="34" charset="0"/>
                <a:ea typeface="Cambria" pitchFamily="34" charset="-122"/>
                <a:cs typeface="Cambria" pitchFamily="34" charset="-120"/>
              </a:rPr>
              <a:t>94.60%</a:t>
            </a:r>
            <a:endParaRPr lang="en-US" sz="4800" dirty="0"/>
          </a:p>
        </p:txBody>
      </p:sp>
      <p:sp>
        <p:nvSpPr>
          <p:cNvPr id="8" name="Text 6"/>
          <p:cNvSpPr txBox="1"/>
          <p:nvPr/>
        </p:nvSpPr>
        <p:spPr>
          <a:xfrm>
            <a:off x="4617720" y="2834640"/>
            <a:ext cx="3017520" cy="1920240"/>
          </a:xfrm>
          <a:prstGeom prst="rect">
            <a:avLst/>
          </a:prstGeom>
          <a:noFill/>
          <a:ln/>
        </p:spPr>
        <p:txBody>
          <a:bodyPr wrap="square" lIns="0" tIns="0" rIns="0" bIns="0" rtlCol="0" anchor="t"/>
          <a:lstStyle/>
          <a:p>
            <a:pPr indent="0" marL="0">
              <a:buNone/>
            </a:pPr>
            <a:r>
              <a:rPr lang="en-US" sz="1800" dirty="0">
                <a:solidFill>
                  <a:schemeClr val="bg1"/>
                </a:solidFill>
              </a:rPr>
              <a:t>Accuracy after abstaining below τ = 0.60 (15.87% rejected): a practical safety net for municipal recycling.</a:t>
            </a:r>
            <a:endParaRPr lang="en-US" sz="1800" dirty="0"/>
          </a:p>
        </p:txBody>
      </p:sp>
      <p:sp>
        <p:nvSpPr>
          <p:cNvPr id="9" name="takeaway 3"/>
          <p:cNvSpPr/>
          <p:nvPr/>
        </p:nvSpPr>
        <p:spPr>
          <a:xfrm>
            <a:off x="8046720" y="1508760"/>
            <a:ext cx="3593592" cy="3383280"/>
          </a:xfrm>
          <a:prstGeom prst="roundRect">
            <a:avLst>
              <a:gd name="adj" fmla="val 4054"/>
            </a:avLst>
          </a:prstGeom>
          <a:solidFill>
            <a:schemeClr val="accent3"/>
          </a:solidFill>
          <a:ln/>
        </p:spPr>
      </p:sp>
      <p:sp>
        <p:nvSpPr>
          <p:cNvPr id="10" name="Text 8"/>
          <p:cNvSpPr txBox="1"/>
          <p:nvPr/>
        </p:nvSpPr>
        <p:spPr>
          <a:xfrm>
            <a:off x="8366760" y="1783080"/>
            <a:ext cx="3017520" cy="91440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Next</a:t>
            </a:r>
            <a:endParaRPr lang="en-US" sz="4800" dirty="0"/>
          </a:p>
        </p:txBody>
      </p:sp>
      <p:sp>
        <p:nvSpPr>
          <p:cNvPr id="11" name="Text 9"/>
          <p:cNvSpPr txBox="1"/>
          <p:nvPr/>
        </p:nvSpPr>
        <p:spPr>
          <a:xfrm>
            <a:off x="8366760" y="2834640"/>
            <a:ext cx="3017520" cy="1920240"/>
          </a:xfrm>
          <a:prstGeom prst="rect">
            <a:avLst/>
          </a:prstGeom>
          <a:noFill/>
          <a:ln/>
        </p:spPr>
        <p:txBody>
          <a:bodyPr wrap="square" lIns="0" tIns="0" rIns="0" bIns="0" rtlCol="0" anchor="t"/>
          <a:lstStyle/>
          <a:p>
            <a:pPr indent="0" marL="0">
              <a:buNone/>
            </a:pPr>
            <a:r>
              <a:rPr lang="en-US" sz="1800" dirty="0">
                <a:solidFill>
                  <a:schemeClr val="bg1"/>
                </a:solidFill>
              </a:rPr>
              <a:t>Multi-label segmentation with YOLOv8-seg for composite waste items, and INT8 quantization for edge deployment.</a:t>
            </a:r>
            <a:endParaRPr lang="en-US" sz="1800" dirty="0"/>
          </a:p>
        </p:txBody>
      </p:sp>
      <p:sp>
        <p:nvSpPr>
          <p:cNvPr id="12" name="Text 10"/>
          <p:cNvSpPr txBox="1"/>
          <p:nvPr/>
        </p:nvSpPr>
        <p:spPr>
          <a:xfrm>
            <a:off x="548640" y="5349240"/>
            <a:ext cx="11064240" cy="640080"/>
          </a:xfrm>
          <a:prstGeom prst="rect">
            <a:avLst/>
          </a:prstGeom>
          <a:noFill/>
          <a:ln/>
        </p:spPr>
        <p:txBody>
          <a:bodyPr wrap="square" lIns="0" tIns="0" rIns="0" bIns="0" rtlCol="0" anchor="t"/>
          <a:lstStyle/>
          <a:p>
            <a:pPr indent="0" marL="0">
              <a:buNone/>
            </a:pPr>
            <a:r>
              <a:rPr lang="en-US" sz="3000" b="1" dirty="0">
                <a:solidFill>
                  <a:schemeClr val="accent6"/>
                </a:solidFill>
                <a:latin typeface="Cambria" pitchFamily="34" charset="0"/>
                <a:ea typeface="Cambria" pitchFamily="34" charset="-122"/>
                <a:cs typeface="Cambria" pitchFamily="34" charset="-120"/>
              </a:rPr>
              <a:t>Thank you. Questions?</a:t>
            </a:r>
            <a:endParaRPr lang="en-US" sz="3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Waste Sorting">
  <a:themeElements>
    <a:clrScheme name="Waste Sorting">
      <a:dk1>
        <a:srgbClr val="0F2A24"/>
      </a:dk1>
      <a:lt1>
        <a:srgbClr val="FFFFFF"/>
      </a:lt1>
      <a:dk2>
        <a:srgbClr val="4A5B54"/>
      </a:dk2>
      <a:lt2>
        <a:srgbClr val="EEF3F0"/>
      </a:lt2>
      <a:accent1>
        <a:srgbClr val="1F8A60"/>
      </a:accent1>
      <a:accent2>
        <a:srgbClr val="F2A33A"/>
      </a:accent2>
      <a:accent3>
        <a:srgbClr val="17493D"/>
      </a:accent3>
      <a:accent4>
        <a:srgbClr val="C9D8D0"/>
      </a:accent4>
      <a:accent5>
        <a:srgbClr val="8A9A94"/>
      </a:accent5>
      <a:accent6>
        <a:srgbClr val="5FD3A0"/>
      </a:accent6>
      <a:hlink>
        <a:srgbClr val="1F8A60"/>
      </a:hlink>
      <a:folHlink>
        <a:srgbClr val="4A5B54"/>
      </a:folHlink>
    </a:clrScheme>
    <a:fontScheme name="Waste Sor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Everyday Waste Sorting: Manual Descriptors vs. Calibrated Deep Transfer Learning</dc:title>
  <dc:subject>PptxGenJS Presentation</dc:subject>
  <dc:creator>AML-DL Group T041</dc:creator>
  <cp:lastModifiedBy>AML-DL Group T041</cp:lastModifiedBy>
  <cp:revision>1</cp:revision>
  <dcterms:created xsi:type="dcterms:W3CDTF">2026-10-26T07:36:08Z</dcterms:created>
  <dcterms:modified xsi:type="dcterms:W3CDTF">2026-10-26T07:36:08Z</dcterms:modified>
</cp:coreProperties>
</file>